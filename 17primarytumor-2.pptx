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86" r:id="rId4"/>
    <p:sldId id="267" r:id="rId5"/>
    <p:sldId id="287" r:id="rId6"/>
    <p:sldId id="288" r:id="rId7"/>
    <p:sldId id="289" r:id="rId8"/>
    <p:sldId id="291" r:id="rId9"/>
    <p:sldId id="302" r:id="rId10"/>
    <p:sldId id="303" r:id="rId11"/>
    <p:sldId id="292" r:id="rId12"/>
    <p:sldId id="294" r:id="rId13"/>
    <p:sldId id="296" r:id="rId14"/>
    <p:sldId id="297" r:id="rId15"/>
    <p:sldId id="295" r:id="rId16"/>
    <p:sldId id="268" r:id="rId17"/>
    <p:sldId id="269" r:id="rId18"/>
    <p:sldId id="271" r:id="rId19"/>
    <p:sldId id="274" r:id="rId20"/>
    <p:sldId id="273" r:id="rId21"/>
    <p:sldId id="275" r:id="rId22"/>
    <p:sldId id="277" r:id="rId23"/>
    <p:sldId id="305" r:id="rId24"/>
    <p:sldId id="280" r:id="rId25"/>
    <p:sldId id="282" r:id="rId26"/>
    <p:sldId id="283" r:id="rId27"/>
    <p:sldId id="284" r:id="rId28"/>
    <p:sldId id="285" r:id="rId29"/>
    <p:sldId id="301" r:id="rId30"/>
    <p:sldId id="265"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91" d="100"/>
          <a:sy n="91" d="100"/>
        </p:scale>
        <p:origin x="1210" y="5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1" name="Rectangle 10"/>
          <p:cNvSpPr/>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0B5D345-9911-4D4D-AD3A-FC51AB1D6D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90D02-0B1B-4C38-8AEB-8C38EAB7218C}" type="slidenum">
              <a:rPr lang="en-US" smtClean="0"/>
              <a:t>‹#›</a:t>
            </a:fld>
            <a:endParaRPr lang="en-US"/>
          </a:p>
        </p:txBody>
      </p:sp>
      <p:sp>
        <p:nvSpPr>
          <p:cNvPr id="2" name="Title 1"/>
          <p:cNvSpPr>
            <a:spLocks noGrp="1"/>
          </p:cNvSpPr>
          <p:nvPr>
            <p:ph type="ctrTitle"/>
          </p:nvPr>
        </p:nvSpPr>
        <p:spPr>
          <a:xfrm>
            <a:off x="817581" y="3132290"/>
            <a:ext cx="7175351" cy="1793167"/>
          </a:xfrm>
          <a:effectLst/>
        </p:spPr>
        <p:txBody>
          <a:bodyPr>
            <a:noAutofit/>
          </a:bodyPr>
          <a:lstStyle>
            <a:lvl1pPr marL="640080" indent="-457200" algn="l">
              <a:defRPr sz="5400"/>
            </a:lvl1pPr>
          </a:lstStyle>
          <a:p>
            <a:r>
              <a:rPr lang="en-US"/>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0B5D345-9911-4D4D-AD3A-FC51AB1D6D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90D02-0B1B-4C38-8AEB-8C38EAB7218C}"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
        <p:nvSpPr>
          <p:cNvPr id="10" name="Content Placeholder 9"/>
          <p:cNvSpPr>
            <a:spLocks noGrp="1"/>
          </p:cNvSpPr>
          <p:nvPr>
            <p:ph sz="quarter" idx="13"/>
          </p:nvPr>
        </p:nvSpPr>
        <p:spPr>
          <a:xfrm>
            <a:off x="1143000" y="731520"/>
            <a:ext cx="6400800"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en-US"/>
              <a:t>Click to edit Master title style</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B5D345-9911-4D4D-AD3A-FC51AB1D6D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0B5D345-9911-4D4D-AD3A-FC51AB1D6D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90D02-0B1B-4C38-8AEB-8C38EAB7218C}" type="slidenum">
              <a:rPr lang="en-US" smtClean="0"/>
              <a:t>‹#›</a:t>
            </a:fld>
            <a:endParaRPr lang="en-US"/>
          </a:p>
        </p:txBody>
      </p:sp>
      <p:sp>
        <p:nvSpPr>
          <p:cNvPr id="8" name="Title 7"/>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3"/>
          </p:nvPr>
        </p:nvSpPr>
        <p:spPr>
          <a:xfrm>
            <a:off x="1142999" y="731519"/>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14"/>
          </p:nvPr>
        </p:nvSpPr>
        <p:spPr>
          <a:xfrm>
            <a:off x="4645152" y="731520"/>
            <a:ext cx="3346704" cy="3474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None/>
            </a:pPr>
            <a:r>
              <a:rPr lang="en-US"/>
              <a:t>Click to edit Master text styles</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0B5D345-9911-4D4D-AD3A-FC51AB1D6D09}"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590D02-0B1B-4C38-8AEB-8C38EAB7218C}"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0B5D345-9911-4D4D-AD3A-FC51AB1D6D09}"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0B5D345-9911-4D4D-AD3A-FC51AB1D6D09}"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en-US"/>
              <a:t>Click to edit Master title style</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B5D345-9911-4D4D-AD3A-FC51AB1D6D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anose="02040502050405020303"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0B5D345-9911-4D4D-AD3A-FC51AB1D6D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590D02-0B1B-4C38-8AEB-8C38EAB7218C}" type="slidenum">
              <a:rPr lang="en-US" smtClean="0"/>
              <a:t>‹#›</a:t>
            </a:fld>
            <a:endParaRPr lang="en-US"/>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en-US"/>
              <a:t>Click to edit Master title style</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B5D345-9911-4D4D-AD3A-FC51AB1D6D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en-US"/>
              <a:t>Click to edit Master title style</a:t>
            </a:r>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0B5D345-9911-4D4D-AD3A-FC51AB1D6D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590D02-0B1B-4C38-8AEB-8C38EAB7218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793289" y="4372168"/>
            <a:ext cx="6512511" cy="1143000"/>
          </a:xfrm>
          <a:prstGeom prst="rect">
            <a:avLst/>
          </a:prstGeom>
          <a:effectLst/>
        </p:spPr>
        <p:txBody>
          <a:bodyPr vert="horz" lIns="91440" tIns="45720" rIns="91440" bIns="4572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143000" y="732260"/>
            <a:ext cx="6400800" cy="34747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90B5D345-9911-4D4D-AD3A-FC51AB1D6D09}" type="datetimeFigureOut">
              <a:rPr lang="en-US" smtClean="0"/>
              <a:t>11/18/2025</a:t>
            </a:fld>
            <a:endParaRPr lang="en-US"/>
          </a:p>
        </p:txBody>
      </p:sp>
      <p:sp>
        <p:nvSpPr>
          <p:cNvPr id="5" name="Footer Placeholder 4"/>
          <p:cNvSpPr>
            <a:spLocks noGrp="1"/>
          </p:cNvSpPr>
          <p:nvPr>
            <p:ph type="ftr" sz="quarter" idx="3"/>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91590D02-0B1B-4C38-8AEB-8C38EAB7218C}"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320040" indent="-320040" algn="r" defTabSz="914400" rtl="0" eaLnBrk="1" latinLnBrk="0" hangingPunct="1">
        <a:spcBef>
          <a:spcPct val="0"/>
        </a:spcBef>
        <a:buClr>
          <a:schemeClr val="accent6">
            <a:lumMod val="75000"/>
          </a:schemeClr>
        </a:buClr>
        <a:buSzPct val="128000"/>
        <a:buFont typeface="Georgia" panose="02040502050405020303"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600" kern="1200">
          <a:solidFill>
            <a:schemeClr val="tx1">
              <a:lumMod val="75000"/>
              <a:lumOff val="25000"/>
            </a:schemeClr>
          </a:solidFill>
          <a:latin typeface="+mn-lt"/>
          <a:ea typeface="+mn-ea"/>
          <a:cs typeface="+mn-cs"/>
        </a:defRPr>
      </a:lvl4pPr>
      <a:lvl5pPr marL="139001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5pPr>
      <a:lvl6pPr marL="166433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8pPr>
      <a:lvl9pPr marL="2587625" indent="-182880" algn="l" defTabSz="914400" rtl="0" eaLnBrk="1" latinLnBrk="0" hangingPunct="1">
        <a:spcBef>
          <a:spcPct val="20000"/>
        </a:spcBef>
        <a:spcAft>
          <a:spcPts val="300"/>
        </a:spcAft>
        <a:buClr>
          <a:schemeClr val="accent6">
            <a:lumMod val="75000"/>
          </a:schemeClr>
        </a:buClr>
        <a:buSzPct val="130000"/>
        <a:buFont typeface="Georgia" panose="02040502050405020303"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7224" y="2357430"/>
            <a:ext cx="7543799" cy="4500570"/>
          </a:xfrm>
        </p:spPr>
        <p:txBody>
          <a:bodyPr>
            <a:noAutofit/>
          </a:bodyPr>
          <a:lstStyle/>
          <a:p>
            <a:pPr lvl="0" algn="ctr" defTabSz="457200">
              <a:spcBef>
                <a:spcPts val="0"/>
              </a:spcBef>
              <a:spcAft>
                <a:spcPts val="0"/>
              </a:spcAft>
              <a:buClrTx/>
              <a:buSzTx/>
            </a:pPr>
            <a:r>
              <a:rPr lang="en-IN" sz="2800" dirty="0">
                <a:solidFill>
                  <a:srgbClr val="00B0F0"/>
                </a:solidFill>
                <a:latin typeface="Times New Roman" panose="02020603050405020304" pitchFamily="18" charset="0"/>
                <a:cs typeface="Times New Roman" panose="02020603050405020304" pitchFamily="18" charset="0"/>
              </a:rPr>
              <a:t>Department of Computer Science and Engineering</a:t>
            </a:r>
          </a:p>
          <a:p>
            <a:pPr lvl="0" algn="ctr" defTabSz="457200">
              <a:spcBef>
                <a:spcPts val="1000"/>
              </a:spcBef>
              <a:spcAft>
                <a:spcPts val="0"/>
              </a:spcAft>
              <a:buClrTx/>
              <a:buSzTx/>
            </a:pPr>
            <a:r>
              <a:rPr lang="en-IN" sz="2400" dirty="0">
                <a:solidFill>
                  <a:srgbClr val="00B0F0"/>
                </a:solidFill>
                <a:latin typeface="Times New Roman" panose="02020603050405020304" pitchFamily="18" charset="0"/>
                <a:cs typeface="Times New Roman" panose="02020603050405020304" pitchFamily="18" charset="0"/>
              </a:rPr>
              <a:t>S R Gudlavalleru Engineering College, Gudlavalleru</a:t>
            </a:r>
          </a:p>
          <a:p>
            <a:pPr lvl="0" algn="ctr" defTabSz="457200">
              <a:spcBef>
                <a:spcPts val="1000"/>
              </a:spcBef>
              <a:spcAft>
                <a:spcPts val="0"/>
              </a:spcAft>
              <a:buClrTx/>
              <a:buSzTx/>
            </a:pPr>
            <a:r>
              <a:rPr lang="en-IN" sz="2000" dirty="0">
                <a:solidFill>
                  <a:srgbClr val="7030A0"/>
                </a:solidFill>
                <a:latin typeface="Times New Roman" panose="02020603050405020304" pitchFamily="18" charset="0"/>
                <a:cs typeface="Times New Roman" panose="02020603050405020304" pitchFamily="18" charset="0"/>
              </a:rPr>
              <a:t>By</a:t>
            </a:r>
          </a:p>
          <a:p>
            <a:pPr lvl="0" defTabSz="457200">
              <a:spcBef>
                <a:spcPts val="1000"/>
              </a:spcBef>
              <a:spcAft>
                <a:spcPts val="0"/>
              </a:spcAft>
              <a:buClrTx/>
              <a:buSzTx/>
            </a:pPr>
            <a:r>
              <a:rPr lang="en-IN" sz="2000" dirty="0" err="1">
                <a:solidFill>
                  <a:prstClr val="black"/>
                </a:solidFill>
                <a:latin typeface="Times New Roman" panose="02020603050405020304" pitchFamily="18" charset="0"/>
                <a:cs typeface="Times New Roman" panose="02020603050405020304" pitchFamily="18" charset="0"/>
              </a:rPr>
              <a:t>Bathula</a:t>
            </a:r>
            <a:r>
              <a:rPr lang="en-IN" sz="2000" dirty="0">
                <a:solidFill>
                  <a:prstClr val="black"/>
                </a:solidFill>
                <a:latin typeface="Times New Roman" panose="02020603050405020304" pitchFamily="18" charset="0"/>
                <a:cs typeface="Times New Roman" panose="02020603050405020304" pitchFamily="18" charset="0"/>
              </a:rPr>
              <a:t> Navya Sri                                              21481A0523</a:t>
            </a:r>
          </a:p>
          <a:p>
            <a:pPr lvl="0" defTabSz="457200">
              <a:spcBef>
                <a:spcPts val="0"/>
              </a:spcBef>
              <a:spcAft>
                <a:spcPts val="0"/>
              </a:spcAft>
              <a:buClrTx/>
              <a:buSzTx/>
            </a:pPr>
            <a:br>
              <a:rPr lang="en-IN" sz="500" dirty="0">
                <a:solidFill>
                  <a:prstClr val="white"/>
                </a:solidFill>
                <a:latin typeface="Century Gothic" panose="020B0502020202020204"/>
              </a:rPr>
            </a:br>
            <a:br>
              <a:rPr lang="en-IN" sz="500" dirty="0">
                <a:solidFill>
                  <a:prstClr val="white"/>
                </a:solidFill>
                <a:latin typeface="Century Gothic" panose="020B0502020202020204"/>
              </a:rPr>
            </a:br>
            <a:endParaRPr lang="en-IN" sz="500" dirty="0">
              <a:solidFill>
                <a:prstClr val="white"/>
              </a:solidFill>
              <a:latin typeface="Century Gothic" panose="020B0502020202020204"/>
            </a:endParaRPr>
          </a:p>
          <a:p>
            <a:pPr algn="ctr">
              <a:spcBef>
                <a:spcPts val="0"/>
              </a:spcBef>
              <a:spcAft>
                <a:spcPts val="0"/>
              </a:spcAft>
            </a:pPr>
            <a:endParaRPr lang="en-US" sz="600" dirty="0"/>
          </a:p>
          <a:p>
            <a:pPr algn="ctr">
              <a:spcBef>
                <a:spcPts val="0"/>
              </a:spcBef>
              <a:spcAft>
                <a:spcPts val="0"/>
              </a:spcAft>
            </a:pPr>
            <a:endParaRPr lang="en-US" sz="600" dirty="0"/>
          </a:p>
        </p:txBody>
      </p:sp>
      <p:sp>
        <p:nvSpPr>
          <p:cNvPr id="2" name="Title 1"/>
          <p:cNvSpPr>
            <a:spLocks noGrp="1"/>
          </p:cNvSpPr>
          <p:nvPr>
            <p:ph type="ctrTitle"/>
          </p:nvPr>
        </p:nvSpPr>
        <p:spPr>
          <a:xfrm>
            <a:off x="609601" y="381001"/>
            <a:ext cx="8153400" cy="476231"/>
          </a:xfrm>
        </p:spPr>
        <p:txBody>
          <a:bodyPr/>
          <a:lstStyle/>
          <a:p>
            <a:pPr algn="ctr">
              <a:buNone/>
            </a:pPr>
            <a:r>
              <a:rPr lang="en-IN" sz="1800" b="1" kern="100" dirty="0">
                <a:solidFill>
                  <a:srgbClr val="FF0000"/>
                </a:solidFill>
                <a:effectLst/>
                <a:latin typeface="Times New Roman" panose="02020603050405020304" pitchFamily="18" charset="0"/>
                <a:ea typeface="Times New Roman" panose="02020603050405020304" pitchFamily="18" charset="0"/>
              </a:rPr>
              <a:t>PRIMARY TUMOR CATALOG: A CLASSIFICATION-DRIVEN DATASET FOR TUMOR CHARACTERIZATION</a:t>
            </a:r>
            <a:endParaRPr lang="en-IN" sz="2400" b="0" dirty="0">
              <a:solidFill>
                <a:srgbClr val="FF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4744" y="1071546"/>
            <a:ext cx="1377950" cy="12954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marL="457200" lvl="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Abstract</a:t>
            </a:r>
          </a:p>
          <a:p>
            <a:pPr marL="457200" lvl="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Introduction</a:t>
            </a:r>
          </a:p>
          <a:p>
            <a:pPr marL="457200" lvl="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Methodology</a:t>
            </a:r>
          </a:p>
          <a:p>
            <a:pPr marL="45720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Orange tool</a:t>
            </a:r>
          </a:p>
          <a:p>
            <a:pPr marL="457200" lvl="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Result</a:t>
            </a:r>
          </a:p>
          <a:p>
            <a:pPr marL="457200" lvl="0" indent="-457200" algn="just" defTabSz="457200">
              <a:spcBef>
                <a:spcPts val="0"/>
              </a:spcBef>
              <a:spcAft>
                <a:spcPts val="0"/>
              </a:spcAft>
              <a:buClrTx/>
              <a:buSzTx/>
              <a:buFont typeface="+mj-lt"/>
              <a:buAutoNum type="arabicPeriod"/>
            </a:pPr>
            <a:r>
              <a:rPr lang="en-US" sz="2400" dirty="0">
                <a:solidFill>
                  <a:srgbClr val="B31166"/>
                </a:solidFill>
                <a:latin typeface="Times New Roman" panose="02020603050405020304" pitchFamily="18" charset="0"/>
                <a:cs typeface="Times New Roman" panose="02020603050405020304" pitchFamily="18" charset="0"/>
              </a:rPr>
              <a:t>Conclusion and Future Scope</a:t>
            </a:r>
            <a:endParaRPr lang="en-US" sz="2400" dirty="0">
              <a:solidFill>
                <a:prstClr val="black"/>
              </a:solidFill>
              <a:latin typeface="Times New Roman" panose="02020603050405020304" pitchFamily="18" charset="0"/>
              <a:cs typeface="Times New Roman" panose="02020603050405020304" pitchFamily="18" charset="0"/>
            </a:endParaRPr>
          </a:p>
          <a:p>
            <a:endParaRPr lang="en-US" sz="1800" dirty="0"/>
          </a:p>
        </p:txBody>
      </p:sp>
      <p:sp>
        <p:nvSpPr>
          <p:cNvPr id="4" name="Title 3"/>
          <p:cNvSpPr>
            <a:spLocks noGrp="1"/>
          </p:cNvSpPr>
          <p:nvPr>
            <p:ph type="ctrTitle"/>
          </p:nvPr>
        </p:nvSpPr>
        <p:spPr>
          <a:xfrm>
            <a:off x="685800" y="381000"/>
            <a:ext cx="7175351" cy="830110"/>
          </a:xfrm>
        </p:spPr>
        <p:txBody>
          <a:bodyPr/>
          <a:lstStyle/>
          <a:p>
            <a:pPr marL="182880" indent="0" algn="ctr">
              <a:buNone/>
            </a:pPr>
            <a:r>
              <a:rPr lang="en-US" sz="2800" dirty="0">
                <a:solidFill>
                  <a:srgbClr val="FF0000"/>
                </a:solidFill>
                <a:latin typeface="Times New Roman" panose="02020603050405020304" pitchFamily="18" charset="0"/>
                <a:cs typeface="Times New Roman" panose="02020603050405020304" pitchFamily="18" charset="0"/>
              </a:rPr>
              <a:t>INDEX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3"/>
          </p:nvPr>
        </p:nvSpPr>
        <p:spPr>
          <a:xfrm>
            <a:off x="642910" y="642918"/>
            <a:ext cx="7786742" cy="5572164"/>
          </a:xfrm>
        </p:spPr>
        <p:txBody>
          <a:bodyPr>
            <a:normAutofit/>
          </a:bodyPr>
          <a:lstStyle/>
          <a:p>
            <a:pPr>
              <a:buNone/>
            </a:pPr>
            <a:r>
              <a:rPr lang="en-IN" sz="2000" dirty="0">
                <a:solidFill>
                  <a:srgbClr val="FF0000"/>
                </a:solidFill>
              </a:rPr>
              <a:t>                                   </a:t>
            </a:r>
            <a:r>
              <a:rPr lang="en-IN" sz="2400" b="1" dirty="0">
                <a:solidFill>
                  <a:srgbClr val="FF0000"/>
                </a:solidFill>
              </a:rPr>
              <a:t>1.ABSTRACT</a:t>
            </a:r>
          </a:p>
          <a:p>
            <a:pPr>
              <a:buNone/>
            </a:pPr>
            <a:endParaRPr lang="en-IN" sz="2000" dirty="0">
              <a:solidFill>
                <a:srgbClr val="FF0000"/>
              </a:solidFill>
            </a:endParaRPr>
          </a:p>
          <a:p>
            <a:pPr marL="342900" indent="-342900" algn="just">
              <a:buFont typeface="Wingdings" panose="05000000000000000000" pitchFamily="2" charset="2"/>
              <a:buChar char="Ø"/>
            </a:pP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Day by Day the cases of </a:t>
            </a:r>
            <a:r>
              <a:rPr lang="en-IN" sz="20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tumor</a:t>
            </a: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are increasing rapidly at a rapid rate and it’s very important and concerning to predict any such diseases beforehand. This diagnosis is a difficult task i.e. it should be performed </a:t>
            </a:r>
            <a:r>
              <a:rPr lang="en-IN" sz="2000" kern="1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predisely</a:t>
            </a: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efficiently.</a:t>
            </a:r>
          </a:p>
          <a:p>
            <a:pPr marL="342900" indent="-342900" algn="just">
              <a:buFont typeface="Wingdings" panose="05000000000000000000" pitchFamily="2" charset="2"/>
              <a:buChar char="Ø"/>
            </a:pPr>
            <a:endPar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kern="1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The dataset is structured to facilitate data mining tasks, including classification algorithms such as decision trees, support vector machines, and neural networks. Researchers and practitioners can leverage this dataset to develop predictive models, uncover diagnostic biomarkers, and enhance personalized treatment strategies.</a:t>
            </a:r>
          </a:p>
          <a:p>
            <a:pPr marL="0" indent="46355" algn="just">
              <a:buNone/>
            </a:pPr>
            <a:endParaRPr lang="en-IN"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marL="342900" indent="-342900" algn="just">
              <a:buFont typeface="Wingdings" panose="05000000000000000000" pitchFamily="2" charset="2"/>
              <a:buChar char="Ø"/>
            </a:pPr>
            <a:r>
              <a:rPr lang="en-IN" sz="2000" kern="100" dirty="0">
                <a:solidFill>
                  <a:srgbClr val="000000"/>
                </a:solidFill>
                <a:effectLst/>
                <a:latin typeface="Times New Roman" panose="02020603050405020304" pitchFamily="18" charset="0"/>
                <a:ea typeface="Times New Roman" panose="02020603050405020304" pitchFamily="18" charset="0"/>
              </a:rPr>
              <a:t>Primary </a:t>
            </a:r>
            <a:r>
              <a:rPr lang="en-IN" sz="2000" kern="100" dirty="0" err="1">
                <a:solidFill>
                  <a:srgbClr val="000000"/>
                </a:solidFill>
                <a:effectLst/>
                <a:latin typeface="Times New Roman" panose="02020603050405020304" pitchFamily="18" charset="0"/>
                <a:ea typeface="Times New Roman" panose="02020603050405020304" pitchFamily="18" charset="0"/>
              </a:rPr>
              <a:t>tumors</a:t>
            </a:r>
            <a:r>
              <a:rPr lang="en-IN" sz="2000" kern="100" dirty="0">
                <a:solidFill>
                  <a:srgbClr val="000000"/>
                </a:solidFill>
                <a:effectLst/>
                <a:latin typeface="Times New Roman" panose="02020603050405020304" pitchFamily="18" charset="0"/>
                <a:ea typeface="Times New Roman" panose="02020603050405020304" pitchFamily="18" charset="0"/>
              </a:rPr>
              <a:t>, originating from diverse tissues and exhibiting varying histological and molecular characteristics, pose formidable challenges in cancer diagnosis and treatment.</a:t>
            </a:r>
          </a:p>
          <a:p>
            <a:pPr algn="just"/>
            <a:r>
              <a:rPr lang="en-IN" sz="2000" kern="100" dirty="0">
                <a:solidFill>
                  <a:srgbClr val="000000"/>
                </a:solidFill>
                <a:effectLst/>
                <a:latin typeface="Times New Roman" panose="02020603050405020304" pitchFamily="18" charset="0"/>
                <a:ea typeface="Times New Roman" panose="02020603050405020304" pitchFamily="18" charset="0"/>
              </a:rPr>
              <a:t> </a:t>
            </a:r>
          </a:p>
          <a:p>
            <a:pPr marL="342900" indent="-342900" algn="just">
              <a:buFont typeface="Wingdings" panose="05000000000000000000" pitchFamily="2" charset="2"/>
              <a:buChar char="Ø"/>
            </a:pPr>
            <a:r>
              <a:rPr lang="en-IN" sz="2000" kern="100" dirty="0">
                <a:solidFill>
                  <a:srgbClr val="000000"/>
                </a:solidFill>
                <a:effectLst/>
                <a:latin typeface="Times New Roman" panose="02020603050405020304" pitchFamily="18" charset="0"/>
                <a:ea typeface="Times New Roman" panose="02020603050405020304" pitchFamily="18" charset="0"/>
              </a:rPr>
              <a:t>In the era of data-driven healthcare, the convergence of oncology and data mining (DM) offers promising avenues for </a:t>
            </a:r>
            <a:r>
              <a:rPr lang="en-IN" sz="2000" kern="100" dirty="0" err="1">
                <a:solidFill>
                  <a:srgbClr val="000000"/>
                </a:solidFill>
                <a:effectLst/>
                <a:latin typeface="Times New Roman" panose="02020603050405020304" pitchFamily="18" charset="0"/>
                <a:ea typeface="Times New Roman" panose="02020603050405020304" pitchFamily="18" charset="0"/>
              </a:rPr>
              <a:t>unraveling</a:t>
            </a:r>
            <a:r>
              <a:rPr lang="en-IN" sz="2000" kern="100" dirty="0">
                <a:solidFill>
                  <a:srgbClr val="000000"/>
                </a:solidFill>
                <a:effectLst/>
                <a:latin typeface="Times New Roman" panose="02020603050405020304" pitchFamily="18" charset="0"/>
                <a:ea typeface="Times New Roman" panose="02020603050405020304" pitchFamily="18" charset="0"/>
              </a:rPr>
              <a:t> the complexities of </a:t>
            </a:r>
            <a:r>
              <a:rPr lang="en-IN" sz="2000" kern="100" dirty="0" err="1">
                <a:solidFill>
                  <a:srgbClr val="000000"/>
                </a:solidFill>
                <a:effectLst/>
                <a:latin typeface="Times New Roman" panose="02020603050405020304" pitchFamily="18" charset="0"/>
                <a:ea typeface="Times New Roman" panose="02020603050405020304" pitchFamily="18" charset="0"/>
              </a:rPr>
              <a:t>tumor</a:t>
            </a:r>
            <a:r>
              <a:rPr lang="en-IN" sz="2000" kern="100" dirty="0">
                <a:solidFill>
                  <a:srgbClr val="000000"/>
                </a:solidFill>
                <a:effectLst/>
                <a:latin typeface="Times New Roman" panose="02020603050405020304" pitchFamily="18" charset="0"/>
                <a:ea typeface="Times New Roman" panose="02020603050405020304" pitchFamily="18" charset="0"/>
              </a:rPr>
              <a:t> biology and enhancing clinical decision-making. To facilitate this </a:t>
            </a:r>
            <a:r>
              <a:rPr lang="en-IN" sz="2000" kern="100" dirty="0" err="1">
                <a:solidFill>
                  <a:srgbClr val="000000"/>
                </a:solidFill>
                <a:effectLst/>
                <a:latin typeface="Times New Roman" panose="02020603050405020304" pitchFamily="18" charset="0"/>
                <a:ea typeface="Times New Roman" panose="02020603050405020304" pitchFamily="18" charset="0"/>
              </a:rPr>
              <a:t>endeavor</a:t>
            </a:r>
            <a:r>
              <a:rPr lang="en-IN" sz="2000" kern="100" dirty="0">
                <a:solidFill>
                  <a:srgbClr val="000000"/>
                </a:solidFill>
                <a:effectLst/>
                <a:latin typeface="Times New Roman" panose="02020603050405020304" pitchFamily="18" charset="0"/>
                <a:ea typeface="Times New Roman" panose="02020603050405020304" pitchFamily="18" charset="0"/>
              </a:rPr>
              <a:t>, we introduce a meticulously curated primary </a:t>
            </a:r>
            <a:r>
              <a:rPr lang="en-IN" sz="2000" kern="100" dirty="0" err="1">
                <a:solidFill>
                  <a:srgbClr val="000000"/>
                </a:solidFill>
                <a:effectLst/>
                <a:latin typeface="Times New Roman" panose="02020603050405020304" pitchFamily="18" charset="0"/>
                <a:ea typeface="Times New Roman" panose="02020603050405020304" pitchFamily="18" charset="0"/>
              </a:rPr>
              <a:t>tumor</a:t>
            </a:r>
            <a:r>
              <a:rPr lang="en-IN" sz="2000" kern="100" dirty="0">
                <a:solidFill>
                  <a:srgbClr val="000000"/>
                </a:solidFill>
                <a:effectLst/>
                <a:latin typeface="Times New Roman" panose="02020603050405020304" pitchFamily="18" charset="0"/>
                <a:ea typeface="Times New Roman" panose="02020603050405020304" pitchFamily="18" charset="0"/>
              </a:rPr>
              <a:t> dataset tailored for data mining </a:t>
            </a:r>
            <a:r>
              <a:rPr lang="en-IN" sz="2000" kern="100" dirty="0" err="1">
                <a:solidFill>
                  <a:srgbClr val="000000"/>
                </a:solidFill>
                <a:effectLst/>
                <a:latin typeface="Times New Roman" panose="02020603050405020304" pitchFamily="18" charset="0"/>
                <a:ea typeface="Times New Roman" panose="02020603050405020304" pitchFamily="18" charset="0"/>
              </a:rPr>
              <a:t>applications</a:t>
            </a:r>
            <a:r>
              <a:rPr lang="en-IN" sz="2000" dirty="0" err="1">
                <a:latin typeface="Times New Roman" panose="02020603050405020304" pitchFamily="18" charset="0"/>
                <a:cs typeface="Times New Roman" panose="02020603050405020304" pitchFamily="18" charset="0"/>
              </a:rPr>
              <a:t>Data</a:t>
            </a:r>
            <a:r>
              <a:rPr lang="en-IN" sz="2000" dirty="0">
                <a:latin typeface="Times New Roman" panose="02020603050405020304" pitchFamily="18" charset="0"/>
                <a:cs typeface="Times New Roman" panose="02020603050405020304" pitchFamily="18" charset="0"/>
              </a:rPr>
              <a:t> .</a:t>
            </a:r>
          </a:p>
          <a:p>
            <a:pPr algn="just"/>
            <a:endParaRPr lang="en-IN"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IN" sz="2000" kern="100" dirty="0">
                <a:solidFill>
                  <a:srgbClr val="000000"/>
                </a:solidFill>
                <a:latin typeface="Times New Roman" panose="02020603050405020304" pitchFamily="18" charset="0"/>
                <a:ea typeface="Times New Roman" panose="02020603050405020304" pitchFamily="18" charset="0"/>
              </a:rPr>
              <a:t>W</a:t>
            </a:r>
            <a:r>
              <a:rPr lang="en-IN" sz="2000" kern="100" dirty="0">
                <a:solidFill>
                  <a:srgbClr val="000000"/>
                </a:solidFill>
                <a:effectLst/>
                <a:latin typeface="Times New Roman" panose="02020603050405020304" pitchFamily="18" charset="0"/>
                <a:ea typeface="Times New Roman" panose="02020603050405020304" pitchFamily="18" charset="0"/>
              </a:rPr>
              <a:t>e aim to empower researchers, clinicians, and data scientists to harness the power of data mining for accelerating cancer research and improving patient care outcomes. </a:t>
            </a:r>
            <a:endParaRPr lang="en-US" sz="2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FF0000"/>
                </a:solidFill>
                <a:latin typeface="Times New Roman" panose="02020603050405020304" pitchFamily="18" charset="0"/>
                <a:cs typeface="Times New Roman" panose="02020603050405020304" pitchFamily="18" charset="0"/>
              </a:rPr>
              <a:t>2. INTRODUCTION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marL="6350" marR="36195" indent="-6350" algn="just">
              <a:lnSpc>
                <a:spcPct val="103000"/>
              </a:lnSpc>
              <a:spcAft>
                <a:spcPts val="35"/>
              </a:spcAft>
            </a:pPr>
            <a:r>
              <a:rPr lang="en-IN" sz="2000" kern="100" dirty="0">
                <a:solidFill>
                  <a:srgbClr val="000000"/>
                </a:solidFill>
                <a:effectLst/>
                <a:latin typeface="Times New Roman" panose="02020603050405020304" pitchFamily="18" charset="0"/>
                <a:ea typeface="Times New Roman" panose="02020603050405020304" pitchFamily="18" charset="0"/>
              </a:rPr>
              <a:t>Predictive models for classifying primary </a:t>
            </a:r>
            <a:r>
              <a:rPr lang="en-IN" sz="2000" kern="100" dirty="0" err="1">
                <a:solidFill>
                  <a:srgbClr val="000000"/>
                </a:solidFill>
                <a:effectLst/>
                <a:latin typeface="Times New Roman" panose="02020603050405020304" pitchFamily="18" charset="0"/>
                <a:ea typeface="Times New Roman" panose="02020603050405020304" pitchFamily="18" charset="0"/>
              </a:rPr>
              <a:t>tumors</a:t>
            </a:r>
            <a:r>
              <a:rPr lang="en-IN" sz="2000" kern="100" dirty="0">
                <a:solidFill>
                  <a:srgbClr val="000000"/>
                </a:solidFill>
                <a:effectLst/>
                <a:latin typeface="Times New Roman" panose="02020603050405020304" pitchFamily="18" charset="0"/>
                <a:ea typeface="Times New Roman" panose="02020603050405020304" pitchFamily="18" charset="0"/>
              </a:rPr>
              <a:t>. By leveraging advanced machine learning algorithms and integrating heterogeneous data sources and how to predict the unknown class label using prediction.</a:t>
            </a:r>
          </a:p>
          <a:p>
            <a:pPr marL="6350" marR="36195" indent="-6350" algn="just">
              <a:lnSpc>
                <a:spcPct val="103000"/>
              </a:lnSpc>
              <a:spcAft>
                <a:spcPts val="35"/>
              </a:spcAft>
            </a:pPr>
            <a:r>
              <a:rPr lang="en-IN" sz="2000" kern="100" dirty="0">
                <a:solidFill>
                  <a:srgbClr val="000000"/>
                </a:solidFill>
                <a:effectLst/>
                <a:latin typeface="Times New Roman" panose="02020603050405020304" pitchFamily="18" charset="0"/>
                <a:ea typeface="Times New Roman" panose="02020603050405020304" pitchFamily="18" charset="0"/>
              </a:rPr>
              <a:t>By performing data mining algorithms, we seek to achieve high classification accuracy and predictive performance, thereby facilitating clinical decision-making and improving patient outcomes.</a:t>
            </a:r>
          </a:p>
          <a:p>
            <a:pPr marL="6350" marR="36195" indent="-6350" algn="just">
              <a:lnSpc>
                <a:spcPct val="103000"/>
              </a:lnSpc>
              <a:spcAft>
                <a:spcPts val="35"/>
              </a:spcAft>
            </a:pPr>
            <a:r>
              <a:rPr lang="en-IN" sz="2000" kern="100" dirty="0">
                <a:solidFill>
                  <a:srgbClr val="000000"/>
                </a:solidFill>
                <a:effectLst/>
                <a:latin typeface="Times New Roman" panose="02020603050405020304" pitchFamily="18" charset="0"/>
                <a:ea typeface="Times New Roman" panose="02020603050405020304" pitchFamily="18" charset="0"/>
              </a:rPr>
              <a:t> </a:t>
            </a: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IN" sz="2800" dirty="0">
                <a:solidFill>
                  <a:srgbClr val="FF0000"/>
                </a:solidFill>
              </a:rPr>
              <a:t>Problem Definition</a:t>
            </a:r>
            <a:endParaRPr lang="en-US"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r>
              <a:rPr lang="en-IN" sz="2000" kern="100" dirty="0">
                <a:solidFill>
                  <a:srgbClr val="000000"/>
                </a:solidFill>
                <a:effectLst/>
                <a:latin typeface="Times New Roman" panose="02020603050405020304" pitchFamily="18" charset="0"/>
                <a:ea typeface="Times New Roman" panose="02020603050405020304" pitchFamily="18" charset="0"/>
              </a:rPr>
              <a:t>We intend to use Supervised Machine Learning models that are used in this dataset for finding the accuracy are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Decision Trees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Support Vector Machines (SVM)</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k-Nearest Neighbors (k-NN)</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Naive Bayes</a:t>
            </a: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IN" sz="2800" dirty="0">
                <a:solidFill>
                  <a:srgbClr val="FF0000"/>
                </a:solidFill>
              </a:rPr>
              <a:t>3.Methodology</a:t>
            </a:r>
            <a:endParaRPr lang="en-US"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0166" y="285728"/>
            <a:ext cx="6512511" cy="1143000"/>
          </a:xfrm>
        </p:spPr>
        <p:txBody>
          <a:bodyPr/>
          <a:lstStyle/>
          <a:p>
            <a:pPr algn="l">
              <a:buNone/>
            </a:pPr>
            <a:r>
              <a:rPr lang="en-US" sz="3200" dirty="0">
                <a:solidFill>
                  <a:srgbClr val="FF0000"/>
                </a:solidFill>
              </a:rPr>
              <a:t>Block-Diagram</a:t>
            </a:r>
            <a:endParaRPr lang="en-IN" sz="3200" dirty="0">
              <a:solidFill>
                <a:srgbClr val="FF0000"/>
              </a:solidFill>
            </a:endParaRPr>
          </a:p>
        </p:txBody>
      </p:sp>
      <p:sp>
        <p:nvSpPr>
          <p:cNvPr id="7" name="Content Placeholder 6"/>
          <p:cNvSpPr>
            <a:spLocks noGrp="1"/>
          </p:cNvSpPr>
          <p:nvPr>
            <p:ph sz="quarter" idx="13"/>
          </p:nvPr>
        </p:nvSpPr>
        <p:spPr/>
        <p:txBody>
          <a:bodyPr/>
          <a:lstStyle/>
          <a:p>
            <a:endParaRPr lang="en-US" dirty="0"/>
          </a:p>
          <a:p>
            <a:endParaRPr lang="en-IN" dirty="0"/>
          </a:p>
        </p:txBody>
      </p:sp>
      <p:sp>
        <p:nvSpPr>
          <p:cNvPr id="11" name="Rectangle 10"/>
          <p:cNvSpPr/>
          <p:nvPr/>
        </p:nvSpPr>
        <p:spPr>
          <a:xfrm>
            <a:off x="2817929" y="1177829"/>
            <a:ext cx="1728192" cy="34408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Start</a:t>
            </a:r>
            <a:endParaRPr lang="en-IN" dirty="0"/>
          </a:p>
        </p:txBody>
      </p:sp>
      <p:sp>
        <p:nvSpPr>
          <p:cNvPr id="12" name="Rectangle 11"/>
          <p:cNvSpPr/>
          <p:nvPr/>
        </p:nvSpPr>
        <p:spPr>
          <a:xfrm>
            <a:off x="2421885" y="1805992"/>
            <a:ext cx="2520280" cy="85496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Collect Primary Tumor Dataset</a:t>
            </a:r>
            <a:endParaRPr lang="en-IN" dirty="0"/>
          </a:p>
        </p:txBody>
      </p:sp>
      <p:sp>
        <p:nvSpPr>
          <p:cNvPr id="13" name="Rectangle 12"/>
          <p:cNvSpPr/>
          <p:nvPr/>
        </p:nvSpPr>
        <p:spPr>
          <a:xfrm>
            <a:off x="2457889" y="2925620"/>
            <a:ext cx="2448272" cy="3349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Data Preprocessing</a:t>
            </a:r>
            <a:endParaRPr lang="en-IN" dirty="0"/>
          </a:p>
        </p:txBody>
      </p:sp>
      <p:sp>
        <p:nvSpPr>
          <p:cNvPr id="14" name="Rectangle 13"/>
          <p:cNvSpPr/>
          <p:nvPr/>
        </p:nvSpPr>
        <p:spPr>
          <a:xfrm>
            <a:off x="2619907" y="3565930"/>
            <a:ext cx="2124236" cy="33496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Splitting Data</a:t>
            </a:r>
            <a:endParaRPr lang="en-IN" dirty="0"/>
          </a:p>
        </p:txBody>
      </p:sp>
      <p:sp>
        <p:nvSpPr>
          <p:cNvPr id="15" name="Rectangle 14"/>
          <p:cNvSpPr/>
          <p:nvPr/>
        </p:nvSpPr>
        <p:spPr>
          <a:xfrm>
            <a:off x="1043608" y="4274291"/>
            <a:ext cx="1872208"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Training Data</a:t>
            </a:r>
            <a:endParaRPr lang="en-IN" dirty="0"/>
          </a:p>
        </p:txBody>
      </p:sp>
      <p:sp>
        <p:nvSpPr>
          <p:cNvPr id="16" name="Rectangle 15"/>
          <p:cNvSpPr/>
          <p:nvPr/>
        </p:nvSpPr>
        <p:spPr>
          <a:xfrm>
            <a:off x="4283968" y="4274291"/>
            <a:ext cx="1872208"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Testing Data</a:t>
            </a:r>
            <a:endParaRPr lang="en-IN" dirty="0"/>
          </a:p>
        </p:txBody>
      </p:sp>
      <p:sp>
        <p:nvSpPr>
          <p:cNvPr id="17" name="Rectangle 16"/>
          <p:cNvSpPr/>
          <p:nvPr/>
        </p:nvSpPr>
        <p:spPr>
          <a:xfrm>
            <a:off x="747582" y="5046360"/>
            <a:ext cx="2464259" cy="10801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Training( KNN, Naïve Bayes, SVM, Tree </a:t>
            </a:r>
            <a:r>
              <a:rPr lang="en-US" dirty="0" err="1"/>
              <a:t>Classfier</a:t>
            </a:r>
            <a:r>
              <a:rPr lang="en-US" dirty="0"/>
              <a:t>)</a:t>
            </a:r>
            <a:endParaRPr lang="en-IN" dirty="0"/>
          </a:p>
        </p:txBody>
      </p:sp>
      <p:sp>
        <p:nvSpPr>
          <p:cNvPr id="18" name="Rectangle 17"/>
          <p:cNvSpPr/>
          <p:nvPr/>
        </p:nvSpPr>
        <p:spPr>
          <a:xfrm>
            <a:off x="4283968" y="5046360"/>
            <a:ext cx="2088232" cy="108012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Classifier</a:t>
            </a:r>
            <a:endParaRPr lang="en-IN" dirty="0"/>
          </a:p>
        </p:txBody>
      </p:sp>
      <p:sp>
        <p:nvSpPr>
          <p:cNvPr id="19" name="Rectangle 18"/>
          <p:cNvSpPr/>
          <p:nvPr/>
        </p:nvSpPr>
        <p:spPr>
          <a:xfrm>
            <a:off x="6876256" y="4929565"/>
            <a:ext cx="1872208" cy="4320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Tumor</a:t>
            </a:r>
            <a:endParaRPr lang="en-IN" dirty="0"/>
          </a:p>
        </p:txBody>
      </p:sp>
      <p:sp>
        <p:nvSpPr>
          <p:cNvPr id="20" name="Rectangle 19"/>
          <p:cNvSpPr/>
          <p:nvPr/>
        </p:nvSpPr>
        <p:spPr>
          <a:xfrm>
            <a:off x="6868996" y="5759067"/>
            <a:ext cx="1872208" cy="38042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Normal</a:t>
            </a:r>
            <a:endParaRPr lang="en-IN" dirty="0"/>
          </a:p>
        </p:txBody>
      </p:sp>
      <p:cxnSp>
        <p:nvCxnSpPr>
          <p:cNvPr id="22" name="Straight Arrow Connector 21"/>
          <p:cNvCxnSpPr>
            <a:stCxn id="11" idx="2"/>
            <a:endCxn id="12" idx="0"/>
          </p:cNvCxnSpPr>
          <p:nvPr/>
        </p:nvCxnSpPr>
        <p:spPr>
          <a:xfrm>
            <a:off x="3682025" y="1521917"/>
            <a:ext cx="0" cy="28407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a:stCxn id="12" idx="2"/>
            <a:endCxn id="13" idx="0"/>
          </p:cNvCxnSpPr>
          <p:nvPr/>
        </p:nvCxnSpPr>
        <p:spPr>
          <a:xfrm>
            <a:off x="3682025" y="2660960"/>
            <a:ext cx="0" cy="2646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a:stCxn id="13" idx="2"/>
            <a:endCxn id="14" idx="0"/>
          </p:cNvCxnSpPr>
          <p:nvPr/>
        </p:nvCxnSpPr>
        <p:spPr>
          <a:xfrm>
            <a:off x="3682025" y="3260580"/>
            <a:ext cx="0" cy="30535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Connector 30"/>
          <p:cNvCxnSpPr>
            <a:stCxn id="14" idx="2"/>
          </p:cNvCxnSpPr>
          <p:nvPr/>
        </p:nvCxnSpPr>
        <p:spPr>
          <a:xfrm>
            <a:off x="3682025" y="3900890"/>
            <a:ext cx="0" cy="176182"/>
          </a:xfrm>
          <a:prstGeom prst="line">
            <a:avLst/>
          </a:prstGeom>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2051720" y="4077072"/>
            <a:ext cx="3168352" cy="0"/>
          </a:xfrm>
          <a:prstGeom prst="line">
            <a:avLst/>
          </a:prstGeom>
        </p:spPr>
        <p:style>
          <a:lnRef idx="1">
            <a:schemeClr val="dk1"/>
          </a:lnRef>
          <a:fillRef idx="0">
            <a:schemeClr val="dk1"/>
          </a:fillRef>
          <a:effectRef idx="0">
            <a:schemeClr val="dk1"/>
          </a:effectRef>
          <a:fontRef idx="minor">
            <a:schemeClr val="tx1"/>
          </a:fontRef>
        </p:style>
      </p:cxnSp>
      <p:cxnSp>
        <p:nvCxnSpPr>
          <p:cNvPr id="42" name="Straight Arrow Connector 41"/>
          <p:cNvCxnSpPr/>
          <p:nvPr/>
        </p:nvCxnSpPr>
        <p:spPr>
          <a:xfrm>
            <a:off x="2051720" y="4077072"/>
            <a:ext cx="0" cy="197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endCxn id="16" idx="0"/>
          </p:cNvCxnSpPr>
          <p:nvPr/>
        </p:nvCxnSpPr>
        <p:spPr>
          <a:xfrm>
            <a:off x="5220072" y="4077072"/>
            <a:ext cx="0" cy="19721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p:cNvCxnSpPr>
            <a:stCxn id="15" idx="2"/>
            <a:endCxn id="17" idx="0"/>
          </p:cNvCxnSpPr>
          <p:nvPr/>
        </p:nvCxnSpPr>
        <p:spPr>
          <a:xfrm>
            <a:off x="1979712" y="4706339"/>
            <a:ext cx="0" cy="340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p:cNvCxnSpPr>
            <a:stCxn id="16" idx="2"/>
          </p:cNvCxnSpPr>
          <p:nvPr/>
        </p:nvCxnSpPr>
        <p:spPr>
          <a:xfrm>
            <a:off x="5220072" y="4706339"/>
            <a:ext cx="0" cy="34002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p:cNvCxnSpPr>
            <a:stCxn id="17" idx="3"/>
            <a:endCxn id="18" idx="1"/>
          </p:cNvCxnSpPr>
          <p:nvPr/>
        </p:nvCxnSpPr>
        <p:spPr>
          <a:xfrm>
            <a:off x="3211841" y="5586420"/>
            <a:ext cx="107212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2" name="Straight Arrow Connector 51"/>
          <p:cNvCxnSpPr>
            <a:stCxn id="18" idx="3"/>
            <a:endCxn id="19" idx="1"/>
          </p:cNvCxnSpPr>
          <p:nvPr/>
        </p:nvCxnSpPr>
        <p:spPr>
          <a:xfrm flipV="1">
            <a:off x="6372200" y="5145589"/>
            <a:ext cx="504056" cy="44083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4" name="Straight Arrow Connector 53"/>
          <p:cNvCxnSpPr>
            <a:stCxn id="18" idx="3"/>
            <a:endCxn id="20" idx="1"/>
          </p:cNvCxnSpPr>
          <p:nvPr/>
        </p:nvCxnSpPr>
        <p:spPr>
          <a:xfrm>
            <a:off x="6372200" y="5586420"/>
            <a:ext cx="496796" cy="36286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714348" y="0"/>
            <a:ext cx="7175351" cy="830110"/>
          </a:xfrm>
        </p:spPr>
        <p:txBody>
          <a:bodyPr/>
          <a:lstStyle/>
          <a:p>
            <a:pPr marL="457200" lvl="0" algn="ctr" defTabSz="457200">
              <a:spcBef>
                <a:spcPts val="0"/>
              </a:spcBef>
              <a:buNone/>
            </a:pPr>
            <a:r>
              <a:rPr lang="en-IN" sz="2800" dirty="0">
                <a:solidFill>
                  <a:srgbClr val="FF0000"/>
                </a:solidFill>
              </a:rPr>
              <a:t>Decision-Tree-Algorithm</a:t>
            </a:r>
            <a:endParaRPr lang="en-US" sz="2800" dirty="0">
              <a:solidFill>
                <a:srgbClr val="FF0000"/>
              </a:solidFill>
              <a:latin typeface="Times New Roman" panose="02020603050405020304" pitchFamily="18" charset="0"/>
              <a:cs typeface="Times New Roman" panose="02020603050405020304" pitchFamily="18" charset="0"/>
            </a:endParaRPr>
          </a:p>
        </p:txBody>
      </p:sp>
      <p:pic>
        <p:nvPicPr>
          <p:cNvPr id="8194" name="Picture 2"/>
          <p:cNvPicPr>
            <a:picLocks noChangeAspect="1" noChangeArrowheads="1"/>
          </p:cNvPicPr>
          <p:nvPr/>
        </p:nvPicPr>
        <p:blipFill>
          <a:blip r:embed="rId2"/>
          <a:srcRect/>
          <a:stretch>
            <a:fillRect/>
          </a:stretch>
        </p:blipFill>
        <p:spPr bwMode="auto">
          <a:xfrm>
            <a:off x="1500166" y="558000"/>
            <a:ext cx="6690787" cy="6300000"/>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3"/>
          <p:cNvSpPr txBox="1"/>
          <p:nvPr/>
        </p:nvSpPr>
        <p:spPr>
          <a:xfrm>
            <a:off x="714348" y="0"/>
            <a:ext cx="7175351" cy="830110"/>
          </a:xfrm>
          <a:prstGeom prst="rect">
            <a:avLst/>
          </a:prstGeom>
          <a:effectLst/>
        </p:spPr>
        <p:txBody>
          <a:bodyPr vert="horz" lIns="91440" tIns="45720" rIns="91440" bIns="45720" rtlCol="0" anchor="t" anchorCtr="0">
            <a:noAutofit/>
          </a:bodyPr>
          <a:lstStyle/>
          <a:p>
            <a:pPr marL="457200" marR="0" lvl="0" indent="-320040" algn="ctr" defTabSz="457200" rtl="0" eaLnBrk="1" fontAlgn="auto" latinLnBrk="0" hangingPunct="1">
              <a:lnSpc>
                <a:spcPct val="100000"/>
              </a:lnSpc>
              <a:spcBef>
                <a:spcPts val="0"/>
              </a:spcBef>
              <a:spcAft>
                <a:spcPts val="0"/>
              </a:spcAft>
              <a:buClr>
                <a:schemeClr val="accent6">
                  <a:lumMod val="75000"/>
                </a:schemeClr>
              </a:buClr>
              <a:buSzPct val="128000"/>
              <a:buFont typeface="Georgia" panose="02040502050405020303" pitchFamily="18" charset="0"/>
              <a:buNone/>
              <a:defRPr/>
            </a:pPr>
            <a:r>
              <a:rPr lang="en-IN" sz="2800" b="1" dirty="0">
                <a:solidFill>
                  <a:srgbClr val="FF0000"/>
                </a:solidFill>
                <a:effectLst>
                  <a:reflection blurRad="6350" stA="55000" endA="300" endPos="45500" dir="5400000" sy="-100000" algn="bl" rotWithShape="0"/>
                </a:effectLst>
                <a:latin typeface="+mj-lt"/>
                <a:ea typeface="+mj-ea"/>
                <a:cs typeface="+mj-cs"/>
              </a:rPr>
              <a:t>Support Vector Machine Algorithm</a:t>
            </a:r>
            <a:endParaRPr kumimoji="0" lang="en-US" sz="2800" b="1" i="0" u="none" strike="noStrike" kern="1200" cap="none" spc="0" normalizeH="0" baseline="0" noProof="0" dirty="0">
              <a:ln>
                <a:noFill/>
              </a:ln>
              <a:solidFill>
                <a:srgbClr val="FF0000"/>
              </a:solidFill>
              <a:effectLst>
                <a:reflection blurRad="6350" stA="55000" endA="300" endPos="45500" dir="5400000" sy="-100000" algn="bl" rotWithShape="0"/>
              </a:effectLst>
              <a:uLnTx/>
              <a:uFillTx/>
              <a:latin typeface="Times New Roman" panose="02020603050405020304" pitchFamily="18" charset="0"/>
              <a:ea typeface="+mj-ea"/>
              <a:cs typeface="Times New Roman" panose="02020603050405020304" pitchFamily="18" charset="0"/>
            </a:endParaRPr>
          </a:p>
        </p:txBody>
      </p:sp>
      <p:sp>
        <p:nvSpPr>
          <p:cNvPr id="2" name="TextBox 1"/>
          <p:cNvSpPr txBox="1"/>
          <p:nvPr/>
        </p:nvSpPr>
        <p:spPr>
          <a:xfrm>
            <a:off x="611560" y="1196752"/>
            <a:ext cx="7992888" cy="1631216"/>
          </a:xfrm>
          <a:prstGeom prst="rect">
            <a:avLst/>
          </a:prstGeom>
          <a:noFill/>
        </p:spPr>
        <p:txBody>
          <a:bodyPr wrap="square" rtlCol="0">
            <a:spAutoFit/>
          </a:bodyPr>
          <a:lstStyle/>
          <a:p>
            <a:pPr marL="342900" indent="-342900">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A Support Vector Machine (SVM) is a powerful algorithm in data mining used for classification and regression tasks. It works by finding the optimal hyperplane that best separates data points into different classes. SVM aims to maximize the margin between the classes, which helps in better generalization to unseen data</a:t>
            </a:r>
          </a:p>
        </p:txBody>
      </p:sp>
      <p:pic>
        <p:nvPicPr>
          <p:cNvPr id="1026" name="Picture 2" descr="Support Vector Machine (SVM) Python Example - Analytics Yog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3194610"/>
            <a:ext cx="5616624" cy="304270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051720" y="214290"/>
            <a:ext cx="6049352" cy="523220"/>
          </a:xfrm>
          <a:prstGeom prst="rect">
            <a:avLst/>
          </a:prstGeom>
        </p:spPr>
        <p:txBody>
          <a:bodyPr wrap="square">
            <a:spAutoFit/>
          </a:bodyPr>
          <a:lstStyle/>
          <a:p>
            <a:r>
              <a:rPr lang="en-US" sz="2800" dirty="0">
                <a:solidFill>
                  <a:srgbClr val="FF0000"/>
                </a:solidFill>
              </a:rPr>
              <a:t>K-Nearest Neighbor Algorithm</a:t>
            </a:r>
            <a:endParaRPr lang="en-IN" sz="2800" dirty="0"/>
          </a:p>
        </p:txBody>
      </p:sp>
      <p:sp>
        <p:nvSpPr>
          <p:cNvPr id="3" name="TextBox 2"/>
          <p:cNvSpPr txBox="1"/>
          <p:nvPr/>
        </p:nvSpPr>
        <p:spPr>
          <a:xfrm>
            <a:off x="503548" y="1124744"/>
            <a:ext cx="8136904" cy="3170099"/>
          </a:xfrm>
          <a:prstGeom prst="rect">
            <a:avLst/>
          </a:prstGeom>
          <a:noFill/>
        </p:spPr>
        <p:txBody>
          <a:bodyPr wrap="square" rtlCol="0">
            <a:spAutoFit/>
          </a:bodyPr>
          <a:lstStyle/>
          <a:p>
            <a:pPr marL="342900" indent="-342900" algn="l">
              <a:buFont typeface="Wingdings" panose="05000000000000000000" pitchFamily="2" charset="2"/>
              <a:buChar char="q"/>
            </a:pPr>
            <a:r>
              <a:rPr lang="en-US" sz="2000" b="0" i="0" dirty="0">
                <a:solidFill>
                  <a:srgbClr val="1F1F1F"/>
                </a:solidFill>
                <a:effectLst/>
                <a:latin typeface="Times New Roman" panose="02020603050405020304" pitchFamily="18" charset="0"/>
                <a:cs typeface="Times New Roman" panose="02020603050405020304" pitchFamily="18" charset="0"/>
              </a:rPr>
              <a:t>Step 1: Selecting the optimal value of K. K represents the number of nearest neighbors that needs to be considered while making prediction.</a:t>
            </a:r>
          </a:p>
          <a:p>
            <a:pPr marL="342900" indent="-342900" algn="l">
              <a:buFont typeface="Wingdings" panose="05000000000000000000" pitchFamily="2" charset="2"/>
              <a:buChar char="q"/>
            </a:pPr>
            <a:r>
              <a:rPr lang="en-US" sz="2000" b="0" i="0" dirty="0">
                <a:solidFill>
                  <a:srgbClr val="1F1F1F"/>
                </a:solidFill>
                <a:effectLst/>
                <a:latin typeface="Times New Roman" panose="02020603050405020304" pitchFamily="18" charset="0"/>
                <a:cs typeface="Times New Roman" panose="02020603050405020304" pitchFamily="18" charset="0"/>
              </a:rPr>
              <a:t>Step 2: Calculating distance.</a:t>
            </a:r>
          </a:p>
          <a:p>
            <a:pPr marL="342900" indent="-342900" algn="l">
              <a:buFont typeface="Wingdings" panose="05000000000000000000" pitchFamily="2" charset="2"/>
              <a:buChar char="q"/>
            </a:pPr>
            <a:r>
              <a:rPr lang="en-US" sz="2000" b="0" i="0" dirty="0">
                <a:solidFill>
                  <a:srgbClr val="1F1F1F"/>
                </a:solidFill>
                <a:effectLst/>
                <a:latin typeface="Times New Roman" panose="02020603050405020304" pitchFamily="18" charset="0"/>
                <a:cs typeface="Times New Roman" panose="02020603050405020304" pitchFamily="18" charset="0"/>
              </a:rPr>
              <a:t>Step 3: Finding Nearest Neighbors. </a:t>
            </a:r>
          </a:p>
          <a:p>
            <a:pPr marL="342900" indent="-342900" algn="l">
              <a:buFont typeface="Wingdings" panose="05000000000000000000" pitchFamily="2" charset="2"/>
              <a:buChar char="q"/>
            </a:pPr>
            <a:r>
              <a:rPr lang="en-US" sz="2000" dirty="0">
                <a:solidFill>
                  <a:srgbClr val="1F1F1F"/>
                </a:solidFill>
                <a:latin typeface="Times New Roman" panose="02020603050405020304" pitchFamily="18" charset="0"/>
                <a:cs typeface="Times New Roman" panose="02020603050405020304" pitchFamily="18" charset="0"/>
              </a:rPr>
              <a:t>Step 4: Among these k neighbors, count the number of data points in each category.</a:t>
            </a:r>
          </a:p>
          <a:p>
            <a:pPr marL="342900" indent="-342900" algn="l">
              <a:buFont typeface="Wingdings" panose="05000000000000000000" pitchFamily="2" charset="2"/>
              <a:buChar char="q"/>
            </a:pPr>
            <a:r>
              <a:rPr lang="en-US" sz="2000" b="0" i="0" dirty="0">
                <a:solidFill>
                  <a:srgbClr val="1F1F1F"/>
                </a:solidFill>
                <a:effectLst/>
                <a:latin typeface="Times New Roman" panose="02020603050405020304" pitchFamily="18" charset="0"/>
                <a:cs typeface="Times New Roman" panose="02020603050405020304" pitchFamily="18" charset="0"/>
              </a:rPr>
              <a:t>Step 5:</a:t>
            </a:r>
            <a:r>
              <a:rPr lang="en-US" sz="2000" dirty="0">
                <a:solidFill>
                  <a:srgbClr val="1F1F1F"/>
                </a:solidFill>
                <a:latin typeface="Times New Roman" panose="02020603050405020304" pitchFamily="18" charset="0"/>
                <a:cs typeface="Times New Roman" panose="02020603050405020304" pitchFamily="18" charset="0"/>
              </a:rPr>
              <a:t> Assign the data points to that category for which the number of the neighbor is maximum.</a:t>
            </a:r>
          </a:p>
          <a:p>
            <a:pPr algn="l"/>
            <a:r>
              <a:rPr lang="en-US" sz="2000" b="0" i="0" dirty="0">
                <a:solidFill>
                  <a:srgbClr val="1F1F1F"/>
                </a:solidFill>
                <a:effectLst/>
                <a:latin typeface="Times New Roman" panose="02020603050405020304" pitchFamily="18" charset="0"/>
                <a:cs typeface="Times New Roman" panose="02020603050405020304" pitchFamily="18" charset="0"/>
              </a:rPr>
              <a:t>The Euclidean distance between two points is calculated as:</a:t>
            </a:r>
          </a:p>
          <a:p>
            <a:endParaRPr lang="en-US" sz="2000" dirty="0"/>
          </a:p>
        </p:txBody>
      </p:sp>
      <p:pic>
        <p:nvPicPr>
          <p:cNvPr id="2052" name="Picture 4" descr="K-Nearest Neighbors(KN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691680" y="4294843"/>
            <a:ext cx="5328592" cy="14384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r>
              <a:rPr lang="en-US" sz="2000" dirty="0">
                <a:latin typeface="Times New Roman" panose="02020603050405020304" pitchFamily="18" charset="0"/>
                <a:cs typeface="Times New Roman" panose="02020603050405020304" pitchFamily="18" charset="0"/>
              </a:rPr>
              <a:t>Naive Bayes is a fast and simple classification algorithm based on Bayes' theorem. It assumes independence among features, making it efficient even with large datasets. During training, it calculates the probability of each class given the feature values. For prediction, it selects the class with the highest probability.</a:t>
            </a:r>
            <a:endParaRPr lang="en-US" sz="24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IN" sz="2800" dirty="0">
                <a:solidFill>
                  <a:srgbClr val="FF0000"/>
                </a:solidFill>
                <a:latin typeface="Times New Roman" panose="02020603050405020304" pitchFamily="18" charset="0"/>
                <a:cs typeface="Times New Roman" panose="02020603050405020304" pitchFamily="18" charset="0"/>
              </a:rPr>
              <a:t>Naïve Bayes Algorithm</a:t>
            </a:r>
            <a:endParaRPr lang="en-US" sz="2800" dirty="0">
              <a:solidFill>
                <a:srgbClr val="FF0000"/>
              </a:solidFill>
              <a:latin typeface="Times New Roman" panose="02020603050405020304" pitchFamily="18" charset="0"/>
              <a:cs typeface="Times New Roman" panose="02020603050405020304" pitchFamily="18" charset="0"/>
            </a:endParaRPr>
          </a:p>
        </p:txBody>
      </p:sp>
      <p:pic>
        <p:nvPicPr>
          <p:cNvPr id="3074" name="Picture 2" descr="Implementing Naive Bayes Algorithm from Scratch — Python. | by Julia  Stanina | Towards Data Scien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2852936"/>
            <a:ext cx="5832648" cy="28477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 dataset consists of </a:t>
            </a:r>
            <a:r>
              <a:rPr lang="en-US" sz="2000" dirty="0" err="1">
                <a:latin typeface="Times New Roman" panose="02020603050405020304" pitchFamily="18" charset="0"/>
                <a:cs typeface="Times New Roman" panose="02020603050405020304" pitchFamily="18" charset="0"/>
              </a:rPr>
              <a:t>classs</a:t>
            </a:r>
            <a:r>
              <a:rPr lang="en-US" sz="2000" dirty="0">
                <a:latin typeface="Times New Roman" panose="02020603050405020304" pitchFamily="18" charset="0"/>
                <a:cs typeface="Times New Roman" panose="02020603050405020304" pitchFamily="18" charset="0"/>
              </a:rPr>
              <a:t> labels and target variables. The "Primary Tumor" dataset in data mining is a collection of patient records with detailed information about demographics, symptoms, diagnostic tests, and treatment history. It's designed to predict the classification of tumors as benign or malignant.</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dataset is essential for medical diagnosis and treatment planning. Challenges include ensuring data quality, selecting relevant features, and developing interpretable models. Despite these challenges, the dataset is crucial for advancing tumor diagnosis and patient care in healthcare.</a:t>
            </a:r>
          </a:p>
          <a:p>
            <a:pPr marL="342900" indent="-342900" algn="just">
              <a:buFont typeface="Wingdings" panose="05000000000000000000" pitchFamily="2" charset="2"/>
              <a:buChar char="Ø"/>
            </a:pPr>
            <a:endParaRPr lang="en-US" sz="2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Data Set Description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208315"/>
            <a:ext cx="8077200" cy="5181599"/>
          </a:xfrm>
        </p:spPr>
        <p:txBody>
          <a:bodyPr>
            <a:normAutofit/>
          </a:bodyPr>
          <a:lstStyle/>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Orange is an open-source data visualization and analysis tool, particularly popular in the field of data mining and machine learning. </a:t>
            </a:r>
          </a:p>
          <a:p>
            <a:pPr marL="342900" indent="-342900"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It provides a visual programming interface for creating workflows and analyzing data through various techniques like classification, regression, clustering, and more. With its intuitive interface, users can easily manipulate and visualize datasets, build predictive models, and evaluate their performance. </a:t>
            </a:r>
          </a:p>
          <a:p>
            <a:pPr marL="342900" indent="-342900" algn="just">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Orange is known for its versatility and user-friendly approach, making it suitable for both beginners and experienced data scientists. Its combination of usability, flexibility, and extensive features</a:t>
            </a:r>
            <a:endParaRPr lang="en-IN" sz="2000" dirty="0">
              <a:latin typeface="Times New Roman" panose="02020603050405020304" pitchFamily="18" charset="0"/>
              <a:cs typeface="Times New Roman" panose="02020603050405020304" pitchFamily="18" charset="0"/>
            </a:endParaRPr>
          </a:p>
          <a:p>
            <a:pPr algn="just"/>
            <a:endParaRPr lang="en-US" sz="2000" dirty="0">
              <a:solidFill>
                <a:srgbClr val="002060"/>
              </a:solidFill>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4.Orange tool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14282" y="3857628"/>
            <a:ext cx="8572560" cy="2246769"/>
          </a:xfrm>
          <a:prstGeom prst="rect">
            <a:avLst/>
          </a:prstGeom>
        </p:spPr>
        <p:txBody>
          <a:bodyPr wrap="square">
            <a:spAutoFit/>
          </a:bodyPr>
          <a:lstStyle/>
          <a:p>
            <a:r>
              <a:rPr lang="en-IN" sz="2800" dirty="0">
                <a:solidFill>
                  <a:srgbClr val="FF0000"/>
                </a:solidFill>
              </a:rPr>
              <a:t>Main Features </a:t>
            </a:r>
          </a:p>
          <a:p>
            <a:r>
              <a:rPr lang="en-IN" sz="2800" dirty="0"/>
              <a:t>• data </a:t>
            </a:r>
            <a:r>
              <a:rPr lang="en-IN" sz="2800" dirty="0" err="1"/>
              <a:t>preprocessing</a:t>
            </a:r>
            <a:r>
              <a:rPr lang="en-IN" sz="2800" dirty="0"/>
              <a:t> tools </a:t>
            </a:r>
          </a:p>
          <a:p>
            <a:r>
              <a:rPr lang="en-IN" sz="2800" dirty="0"/>
              <a:t>• classification/regression algorithms </a:t>
            </a:r>
          </a:p>
          <a:p>
            <a:r>
              <a:rPr lang="en-IN" sz="2800" dirty="0"/>
              <a:t>• clustering algorithms </a:t>
            </a:r>
          </a:p>
          <a:p>
            <a:r>
              <a:rPr lang="en-IN" sz="2800" dirty="0"/>
              <a:t>• algorithms for finding association rules </a:t>
            </a:r>
          </a:p>
        </p:txBody>
      </p:sp>
      <p:pic>
        <p:nvPicPr>
          <p:cNvPr id="1028" name="Picture 4" descr="Orange Data Min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374" y="-99392"/>
            <a:ext cx="7890073" cy="46805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260649"/>
            <a:ext cx="8077200" cy="648072"/>
          </a:xfrm>
        </p:spPr>
        <p:txBody>
          <a:bodyPr>
            <a:normAutofit/>
          </a:bodyPr>
          <a:lstStyle/>
          <a:p>
            <a:pPr algn="just"/>
            <a:r>
              <a:rPr lang="en-US" sz="2800" dirty="0">
                <a:latin typeface="Times New Roman" panose="02020603050405020304" pitchFamily="18" charset="0"/>
                <a:cs typeface="Times New Roman" panose="02020603050405020304" pitchFamily="18" charset="0"/>
              </a:rPr>
              <a:t>                            </a:t>
            </a:r>
            <a:r>
              <a:rPr lang="en-US" sz="2800" b="1" dirty="0">
                <a:solidFill>
                  <a:srgbClr val="C00000"/>
                </a:solidFill>
                <a:latin typeface="Times New Roman" panose="02020603050405020304" pitchFamily="18" charset="0"/>
                <a:cs typeface="Times New Roman" panose="02020603050405020304" pitchFamily="18" charset="0"/>
              </a:rPr>
              <a:t>Loading the Data</a:t>
            </a:r>
          </a:p>
        </p:txBody>
      </p:sp>
      <p:pic>
        <p:nvPicPr>
          <p:cNvPr id="3" name="Picture 2"/>
          <p:cNvPicPr>
            <a:picLocks noChangeAspect="1"/>
          </p:cNvPicPr>
          <p:nvPr/>
        </p:nvPicPr>
        <p:blipFill>
          <a:blip r:embed="rId2"/>
          <a:stretch>
            <a:fillRect/>
          </a:stretch>
        </p:blipFill>
        <p:spPr>
          <a:xfrm>
            <a:off x="844480" y="1334074"/>
            <a:ext cx="7455040" cy="391020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r>
              <a:rPr lang="en-IN" sz="2400" b="1" dirty="0">
                <a:solidFill>
                  <a:schemeClr val="tx1"/>
                </a:solidFill>
                <a:latin typeface="Times New Roman" panose="02020603050405020304" pitchFamily="18" charset="0"/>
                <a:cs typeface="Times New Roman" panose="02020603050405020304" pitchFamily="18" charset="0"/>
              </a:rPr>
              <a:t>There are several data </a:t>
            </a:r>
            <a:r>
              <a:rPr lang="en-IN" sz="2400" b="1" dirty="0" err="1">
                <a:solidFill>
                  <a:schemeClr val="tx1"/>
                </a:solidFill>
                <a:latin typeface="Times New Roman" panose="02020603050405020304" pitchFamily="18" charset="0"/>
                <a:cs typeface="Times New Roman" panose="02020603050405020304" pitchFamily="18" charset="0"/>
              </a:rPr>
              <a:t>preprocessing</a:t>
            </a:r>
            <a:r>
              <a:rPr lang="en-IN" sz="2400" b="1" dirty="0">
                <a:solidFill>
                  <a:schemeClr val="tx1"/>
                </a:solidFill>
                <a:latin typeface="Times New Roman" panose="02020603050405020304" pitchFamily="18" charset="0"/>
                <a:cs typeface="Times New Roman" panose="02020603050405020304" pitchFamily="18" charset="0"/>
              </a:rPr>
              <a:t> techniques. </a:t>
            </a:r>
          </a:p>
          <a:p>
            <a:pPr algn="just"/>
            <a:r>
              <a:rPr lang="en-IN" sz="2400" b="1" i="1" dirty="0">
                <a:solidFill>
                  <a:srgbClr val="FF0000"/>
                </a:solidFill>
                <a:latin typeface="Times New Roman" panose="02020603050405020304" pitchFamily="18" charset="0"/>
                <a:cs typeface="Times New Roman" panose="02020603050405020304" pitchFamily="18" charset="0"/>
              </a:rPr>
              <a:t>Data cleaning </a:t>
            </a:r>
            <a:r>
              <a:rPr lang="en-IN" sz="2400" b="1" i="1" dirty="0">
                <a:solidFill>
                  <a:schemeClr val="tx1"/>
                </a:solidFill>
                <a:latin typeface="Times New Roman" panose="02020603050405020304" pitchFamily="18" charset="0"/>
                <a:cs typeface="Times New Roman" panose="02020603050405020304" pitchFamily="18" charset="0"/>
              </a:rPr>
              <a:t>can be applied to </a:t>
            </a:r>
            <a:r>
              <a:rPr lang="en-IN" sz="2400" b="1" dirty="0">
                <a:solidFill>
                  <a:schemeClr val="tx1"/>
                </a:solidFill>
                <a:latin typeface="Times New Roman" panose="02020603050405020304" pitchFamily="18" charset="0"/>
                <a:cs typeface="Times New Roman" panose="02020603050405020304" pitchFamily="18" charset="0"/>
              </a:rPr>
              <a:t>remove noise and correct inconsistencies in data. </a:t>
            </a:r>
          </a:p>
          <a:p>
            <a:pPr algn="just"/>
            <a:r>
              <a:rPr lang="en-IN" sz="2400" b="1" i="1" dirty="0">
                <a:solidFill>
                  <a:srgbClr val="FF0000"/>
                </a:solidFill>
                <a:latin typeface="Times New Roman" panose="02020603050405020304" pitchFamily="18" charset="0"/>
                <a:cs typeface="Times New Roman" panose="02020603050405020304" pitchFamily="18" charset="0"/>
              </a:rPr>
              <a:t>Data integration </a:t>
            </a:r>
            <a:r>
              <a:rPr lang="en-IN" sz="2400" b="1" i="1" dirty="0">
                <a:solidFill>
                  <a:schemeClr val="tx1"/>
                </a:solidFill>
                <a:latin typeface="Times New Roman" panose="02020603050405020304" pitchFamily="18" charset="0"/>
                <a:cs typeface="Times New Roman" panose="02020603050405020304" pitchFamily="18" charset="0"/>
              </a:rPr>
              <a:t>merges data from </a:t>
            </a:r>
            <a:r>
              <a:rPr lang="en-IN" sz="2400" b="1" dirty="0">
                <a:solidFill>
                  <a:schemeClr val="tx1"/>
                </a:solidFill>
                <a:latin typeface="Times New Roman" panose="02020603050405020304" pitchFamily="18" charset="0"/>
                <a:cs typeface="Times New Roman" panose="02020603050405020304" pitchFamily="18" charset="0"/>
              </a:rPr>
              <a:t>multiple sources into a coherent data store such as a data warehouse. </a:t>
            </a:r>
          </a:p>
          <a:p>
            <a:pPr algn="just"/>
            <a:r>
              <a:rPr lang="en-IN" sz="2400" b="1" i="1" dirty="0">
                <a:solidFill>
                  <a:srgbClr val="FF0000"/>
                </a:solidFill>
                <a:latin typeface="Times New Roman" panose="02020603050405020304" pitchFamily="18" charset="0"/>
                <a:cs typeface="Times New Roman" panose="02020603050405020304" pitchFamily="18" charset="0"/>
              </a:rPr>
              <a:t>Data reduction </a:t>
            </a:r>
            <a:r>
              <a:rPr lang="en-IN" sz="2400" b="1" dirty="0">
                <a:solidFill>
                  <a:schemeClr val="tx1"/>
                </a:solidFill>
                <a:latin typeface="Times New Roman" panose="02020603050405020304" pitchFamily="18" charset="0"/>
                <a:cs typeface="Times New Roman" panose="02020603050405020304" pitchFamily="18" charset="0"/>
              </a:rPr>
              <a:t>can reduce data size by, for instance, aggregating, eliminating redundant features, or clustering. </a:t>
            </a:r>
          </a:p>
          <a:p>
            <a:pPr algn="just"/>
            <a:r>
              <a:rPr lang="en-IN" sz="2400" b="1" i="1" dirty="0">
                <a:solidFill>
                  <a:srgbClr val="FF0000"/>
                </a:solidFill>
                <a:latin typeface="Times New Roman" panose="02020603050405020304" pitchFamily="18" charset="0"/>
                <a:cs typeface="Times New Roman" panose="02020603050405020304" pitchFamily="18" charset="0"/>
              </a:rPr>
              <a:t>Data transformations </a:t>
            </a:r>
            <a:r>
              <a:rPr lang="en-IN" sz="2400" b="1" i="1" dirty="0">
                <a:solidFill>
                  <a:schemeClr val="tx1"/>
                </a:solidFill>
                <a:latin typeface="Times New Roman" panose="02020603050405020304" pitchFamily="18" charset="0"/>
                <a:cs typeface="Times New Roman" panose="02020603050405020304" pitchFamily="18" charset="0"/>
              </a:rPr>
              <a:t>(e.g., normalization) may be applied, where data are </a:t>
            </a:r>
            <a:r>
              <a:rPr lang="en-IN" sz="2400" b="1" dirty="0">
                <a:solidFill>
                  <a:schemeClr val="tx1"/>
                </a:solidFill>
                <a:latin typeface="Times New Roman" panose="02020603050405020304" pitchFamily="18" charset="0"/>
                <a:cs typeface="Times New Roman" panose="02020603050405020304" pitchFamily="18" charset="0"/>
              </a:rPr>
              <a:t>scaled to fall within a smaller range like 0.0 to 1.0.</a:t>
            </a:r>
            <a:endParaRPr lang="en-US" sz="2400" b="1" dirty="0">
              <a:solidFill>
                <a:schemeClr val="tx1"/>
              </a:solidFill>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PRE PROCESSING TECHNIQUES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r>
              <a:rPr lang="en-IN" sz="2400" b="1" dirty="0">
                <a:solidFill>
                  <a:srgbClr val="FF0000"/>
                </a:solidFill>
              </a:rPr>
              <a:t>Missing Values</a:t>
            </a:r>
          </a:p>
          <a:p>
            <a:pPr marL="457200" indent="-457200" algn="just">
              <a:buFont typeface="+mj-lt"/>
              <a:buAutoNum type="arabicPeriod"/>
            </a:pPr>
            <a:r>
              <a:rPr lang="en-IN" sz="2400" b="1" dirty="0"/>
              <a:t>Ignore the </a:t>
            </a:r>
            <a:r>
              <a:rPr lang="en-IN" sz="2400" b="1" dirty="0" err="1"/>
              <a:t>tuple</a:t>
            </a:r>
            <a:endParaRPr lang="en-IN" sz="2400" b="1" dirty="0"/>
          </a:p>
          <a:p>
            <a:pPr marL="457200" indent="-457200" algn="just">
              <a:buFont typeface="+mj-lt"/>
              <a:buAutoNum type="arabicPeriod"/>
            </a:pPr>
            <a:r>
              <a:rPr lang="en-IN" sz="2400" b="1" dirty="0"/>
              <a:t>Fill in the missing value manually</a:t>
            </a:r>
          </a:p>
          <a:p>
            <a:pPr marL="457200" indent="-457200" algn="just">
              <a:buFont typeface="+mj-lt"/>
              <a:buAutoNum type="arabicPeriod"/>
            </a:pPr>
            <a:r>
              <a:rPr lang="en-IN" sz="2400" b="1" dirty="0"/>
              <a:t>Use a global constant to fill in the missing value</a:t>
            </a:r>
          </a:p>
          <a:p>
            <a:pPr marL="457200" indent="-457200" algn="just">
              <a:buFont typeface="+mj-lt"/>
              <a:buAutoNum type="arabicPeriod"/>
            </a:pPr>
            <a:r>
              <a:rPr lang="en-IN" sz="2400" b="1" dirty="0"/>
              <a:t>Use a measure of central tendency for the attribute (e.g., the mean or median) to fill in the missing</a:t>
            </a:r>
          </a:p>
          <a:p>
            <a:pPr marL="457200" indent="-457200" algn="just">
              <a:buFont typeface="+mj-lt"/>
              <a:buAutoNum type="arabicPeriod"/>
            </a:pPr>
            <a:r>
              <a:rPr lang="en-IN" sz="2400" b="1" dirty="0"/>
              <a:t>Use the attribute mean or median for all samples belonging to the same class as the given </a:t>
            </a:r>
            <a:r>
              <a:rPr lang="en-IN" sz="2400" b="1" dirty="0" err="1"/>
              <a:t>tuple</a:t>
            </a:r>
            <a:endParaRPr lang="en-IN" sz="2400" b="1" dirty="0"/>
          </a:p>
          <a:p>
            <a:pPr marL="457200" indent="-457200" algn="just">
              <a:buFont typeface="+mj-lt"/>
              <a:buAutoNum type="arabicPeriod"/>
            </a:pPr>
            <a:r>
              <a:rPr lang="en-IN" sz="2400" b="1" dirty="0"/>
              <a:t>Use the most probable value to fill in the missing value</a:t>
            </a:r>
            <a:endParaRPr lang="en-IN" sz="2400" b="1" dirty="0">
              <a:solidFill>
                <a:srgbClr val="FF0000"/>
              </a:solidFill>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DATA CLEANING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220414"/>
            <a:ext cx="8077200" cy="6038871"/>
          </a:xfrm>
        </p:spPr>
        <p:txBody>
          <a:bodyPr>
            <a:normAutofit/>
          </a:bodyPr>
          <a:lstStyle/>
          <a:p>
            <a:pPr algn="ctr"/>
            <a:r>
              <a:rPr lang="en-IN" sz="2400" b="1" dirty="0">
                <a:solidFill>
                  <a:srgbClr val="FF0000"/>
                </a:solidFill>
              </a:rPr>
              <a:t>Before Pre Processing </a:t>
            </a:r>
          </a:p>
          <a:p>
            <a:endParaRPr lang="en-US" sz="2400" b="1" dirty="0">
              <a:solidFill>
                <a:srgbClr val="FF0000"/>
              </a:solidFill>
            </a:endParaRPr>
          </a:p>
          <a:p>
            <a:endParaRPr lang="en-IN" sz="2400" b="1" dirty="0">
              <a:solidFill>
                <a:srgbClr val="FF0000"/>
              </a:solidFill>
            </a:endParaRPr>
          </a:p>
        </p:txBody>
      </p:sp>
      <p:pic>
        <p:nvPicPr>
          <p:cNvPr id="3" name="Picture 2"/>
          <p:cNvPicPr>
            <a:picLocks noChangeAspect="1"/>
          </p:cNvPicPr>
          <p:nvPr/>
        </p:nvPicPr>
        <p:blipFill>
          <a:blip r:embed="rId2"/>
          <a:stretch>
            <a:fillRect/>
          </a:stretch>
        </p:blipFill>
        <p:spPr>
          <a:xfrm>
            <a:off x="609600" y="908719"/>
            <a:ext cx="8254956" cy="535056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endParaRPr lang="en-US" sz="2400" b="1" dirty="0">
              <a:solidFill>
                <a:srgbClr val="FF0000"/>
              </a:solidFill>
            </a:endParaRPr>
          </a:p>
          <a:p>
            <a:pPr algn="just"/>
            <a:endParaRPr lang="en-US" sz="2400" b="1" dirty="0">
              <a:solidFill>
                <a:srgbClr val="FF0000"/>
              </a:solidFill>
            </a:endParaRPr>
          </a:p>
          <a:p>
            <a:pPr algn="just"/>
            <a:endParaRPr lang="en-US" sz="2400" b="1" dirty="0">
              <a:solidFill>
                <a:srgbClr val="FF0000"/>
              </a:solidFill>
            </a:endParaRPr>
          </a:p>
          <a:p>
            <a:pPr algn="just"/>
            <a:endParaRPr lang="en-IN" sz="2400" b="1" i="1" dirty="0"/>
          </a:p>
          <a:p>
            <a:pPr algn="just"/>
            <a:endParaRPr lang="en-US" sz="2400" b="1" dirty="0">
              <a:solidFill>
                <a:srgbClr val="FF0000"/>
              </a:solidFill>
            </a:endParaRPr>
          </a:p>
          <a:p>
            <a:pPr algn="just"/>
            <a:endParaRPr lang="en-IN" sz="2400" b="1" dirty="0">
              <a:solidFill>
                <a:srgbClr val="7030A0"/>
              </a:solidFill>
            </a:endParaRPr>
          </a:p>
          <a:p>
            <a:pPr algn="just"/>
            <a:endParaRPr lang="en-IN" sz="2400" b="1" dirty="0">
              <a:solidFill>
                <a:srgbClr val="7030A0"/>
              </a:solidFill>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 Pre Processing</a:t>
            </a:r>
          </a:p>
        </p:txBody>
      </p:sp>
      <p:pic>
        <p:nvPicPr>
          <p:cNvPr id="2" name="Picture 1"/>
          <p:cNvPicPr>
            <a:picLocks noChangeAspect="1"/>
          </p:cNvPicPr>
          <p:nvPr/>
        </p:nvPicPr>
        <p:blipFill>
          <a:blip r:embed="rId2"/>
          <a:stretch>
            <a:fillRect/>
          </a:stretch>
        </p:blipFill>
        <p:spPr>
          <a:xfrm>
            <a:off x="685800" y="908685"/>
            <a:ext cx="7601585" cy="2330450"/>
          </a:xfrm>
          <a:prstGeom prst="rect">
            <a:avLst/>
          </a:prstGeom>
        </p:spPr>
      </p:pic>
      <p:pic>
        <p:nvPicPr>
          <p:cNvPr id="3" name="Picture 2"/>
          <p:cNvPicPr>
            <a:picLocks noChangeAspect="1"/>
          </p:cNvPicPr>
          <p:nvPr/>
        </p:nvPicPr>
        <p:blipFill>
          <a:blip r:embed="rId3"/>
          <a:stretch>
            <a:fillRect/>
          </a:stretch>
        </p:blipFill>
        <p:spPr>
          <a:xfrm>
            <a:off x="434975" y="3500755"/>
            <a:ext cx="8166735" cy="263969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endParaRPr lang="en-IN" sz="2400" b="1" dirty="0">
              <a:solidFill>
                <a:srgbClr val="7030A0"/>
              </a:solidFill>
            </a:endParaRPr>
          </a:p>
          <a:p>
            <a:pPr algn="just"/>
            <a:endParaRPr lang="en-US" sz="2400" b="1" dirty="0">
              <a:solidFill>
                <a:srgbClr val="FF0000"/>
              </a:solidFill>
            </a:endParaRPr>
          </a:p>
          <a:p>
            <a:pPr algn="just"/>
            <a:endParaRPr lang="en-US" sz="2400" b="1" dirty="0">
              <a:solidFill>
                <a:srgbClr val="FF0000"/>
              </a:solidFill>
            </a:endParaRPr>
          </a:p>
          <a:p>
            <a:pPr algn="just"/>
            <a:endParaRPr lang="en-IN" sz="2400" b="1" dirty="0">
              <a:solidFill>
                <a:srgbClr val="7030A0"/>
              </a:solidFill>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Scatter Plot </a:t>
            </a:r>
          </a:p>
        </p:txBody>
      </p:sp>
      <p:sp>
        <p:nvSpPr>
          <p:cNvPr id="7" name="Rectangle 6"/>
          <p:cNvSpPr/>
          <p:nvPr/>
        </p:nvSpPr>
        <p:spPr>
          <a:xfrm>
            <a:off x="785786" y="1714488"/>
            <a:ext cx="7429552" cy="460375"/>
          </a:xfrm>
          <a:prstGeom prst="rect">
            <a:avLst/>
          </a:prstGeom>
        </p:spPr>
        <p:txBody>
          <a:bodyPr wrap="square">
            <a:spAutoFit/>
          </a:bodyPr>
          <a:lstStyle/>
          <a:p>
            <a:endParaRPr lang="en-IN" sz="2400" dirty="0"/>
          </a:p>
        </p:txBody>
      </p:sp>
      <p:pic>
        <p:nvPicPr>
          <p:cNvPr id="2" name="Picture 1"/>
          <p:cNvPicPr>
            <a:picLocks noChangeAspect="1"/>
          </p:cNvPicPr>
          <p:nvPr/>
        </p:nvPicPr>
        <p:blipFill>
          <a:blip r:embed="rId2"/>
          <a:stretch>
            <a:fillRect/>
          </a:stretch>
        </p:blipFill>
        <p:spPr>
          <a:xfrm>
            <a:off x="443230" y="1150620"/>
            <a:ext cx="8345170" cy="48152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3597910" y="2769235"/>
            <a:ext cx="1309370" cy="469900"/>
          </a:xfrm>
        </p:spPr>
        <p:txBody>
          <a:bodyPr>
            <a:normAutofit/>
          </a:bodyPr>
          <a:lstStyle/>
          <a:p>
            <a:pPr algn="just"/>
            <a:endParaRPr lang="en-IN" sz="2400" b="1" dirty="0">
              <a:solidFill>
                <a:srgbClr val="7030A0"/>
              </a:solidFill>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400" dirty="0">
                <a:solidFill>
                  <a:srgbClr val="B31166"/>
                </a:solidFill>
                <a:latin typeface="Times New Roman" panose="02020603050405020304" pitchFamily="18" charset="0"/>
                <a:cs typeface="Times New Roman" panose="02020603050405020304" pitchFamily="18" charset="0"/>
              </a:rPr>
              <a:t>Applying Supervised Machine Learning Algorithms</a:t>
            </a:r>
          </a:p>
        </p:txBody>
      </p:sp>
      <p:pic>
        <p:nvPicPr>
          <p:cNvPr id="2" name="Picture 1"/>
          <p:cNvPicPr>
            <a:picLocks noChangeAspect="1"/>
          </p:cNvPicPr>
          <p:nvPr/>
        </p:nvPicPr>
        <p:blipFill>
          <a:blip r:embed="rId2"/>
          <a:stretch>
            <a:fillRect/>
          </a:stretch>
        </p:blipFill>
        <p:spPr>
          <a:xfrm>
            <a:off x="2483485" y="1484630"/>
            <a:ext cx="4079240" cy="396938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Rank</a:t>
            </a:r>
          </a:p>
        </p:txBody>
      </p:sp>
      <p:pic>
        <p:nvPicPr>
          <p:cNvPr id="2" name="Picture 1"/>
          <p:cNvPicPr>
            <a:picLocks noChangeAspect="1"/>
          </p:cNvPicPr>
          <p:nvPr/>
        </p:nvPicPr>
        <p:blipFill>
          <a:blip r:embed="rId2"/>
          <a:stretch>
            <a:fillRect/>
          </a:stretch>
        </p:blipFill>
        <p:spPr>
          <a:xfrm>
            <a:off x="971550" y="1556385"/>
            <a:ext cx="7067550" cy="37782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548680"/>
            <a:ext cx="7344816" cy="461665"/>
          </a:xfrm>
          <a:prstGeom prst="rect">
            <a:avLst/>
          </a:prstGeom>
          <a:noFill/>
        </p:spPr>
        <p:txBody>
          <a:bodyPr wrap="square" rtlCol="0">
            <a:spAutoFit/>
          </a:bodyPr>
          <a:lstStyle/>
          <a:p>
            <a:r>
              <a:rPr lang="en-US" sz="2400" dirty="0">
                <a:solidFill>
                  <a:srgbClr val="C00000"/>
                </a:solidFill>
              </a:rPr>
              <a:t>                    Tree after applying the Rank</a:t>
            </a:r>
          </a:p>
        </p:txBody>
      </p:sp>
      <p:pic>
        <p:nvPicPr>
          <p:cNvPr id="3" name="Picture 2"/>
          <p:cNvPicPr>
            <a:picLocks noChangeAspect="1"/>
          </p:cNvPicPr>
          <p:nvPr/>
        </p:nvPicPr>
        <p:blipFill>
          <a:blip r:embed="rId2"/>
          <a:stretch>
            <a:fillRect/>
          </a:stretch>
        </p:blipFill>
        <p:spPr>
          <a:xfrm>
            <a:off x="514350" y="1482725"/>
            <a:ext cx="8115300" cy="396430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a:bodyPr>
          <a:lstStyle/>
          <a:p>
            <a:pPr algn="just"/>
            <a:endParaRPr lang="en-US" sz="2400" dirty="0">
              <a:solidFill>
                <a:srgbClr val="002060"/>
              </a:solidFill>
              <a:latin typeface="Times New Roman" panose="02020603050405020304" pitchFamily="18" charset="0"/>
              <a:cs typeface="Times New Roman" panose="02020603050405020304" pitchFamily="18" charset="0"/>
            </a:endParaRPr>
          </a:p>
          <a:p>
            <a:pPr algn="just"/>
            <a:endParaRPr lang="en-US" sz="24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lvl="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Predicting the class</a:t>
            </a:r>
          </a:p>
        </p:txBody>
      </p:sp>
      <p:pic>
        <p:nvPicPr>
          <p:cNvPr id="2" name="Picture 1"/>
          <p:cNvPicPr>
            <a:picLocks noChangeAspect="1"/>
          </p:cNvPicPr>
          <p:nvPr/>
        </p:nvPicPr>
        <p:blipFill>
          <a:blip r:embed="rId2"/>
          <a:stretch>
            <a:fillRect/>
          </a:stretch>
        </p:blipFill>
        <p:spPr>
          <a:xfrm>
            <a:off x="1631950" y="1196340"/>
            <a:ext cx="5283200" cy="2330450"/>
          </a:xfrm>
          <a:prstGeom prst="rect">
            <a:avLst/>
          </a:prstGeom>
        </p:spPr>
      </p:pic>
      <p:pic>
        <p:nvPicPr>
          <p:cNvPr id="3" name="Picture 2"/>
          <p:cNvPicPr>
            <a:picLocks noChangeAspect="1"/>
          </p:cNvPicPr>
          <p:nvPr/>
        </p:nvPicPr>
        <p:blipFill>
          <a:blip r:embed="rId3"/>
          <a:stretch>
            <a:fillRect/>
          </a:stretch>
        </p:blipFill>
        <p:spPr>
          <a:xfrm>
            <a:off x="539115" y="4220845"/>
            <a:ext cx="8147685" cy="1355090"/>
          </a:xfrm>
          <a:prstGeom prst="rect">
            <a:avLst/>
          </a:prstGeom>
        </p:spPr>
      </p:pic>
      <p:sp>
        <p:nvSpPr>
          <p:cNvPr id="6" name="Text Box 5"/>
          <p:cNvSpPr txBox="1"/>
          <p:nvPr/>
        </p:nvSpPr>
        <p:spPr>
          <a:xfrm>
            <a:off x="683260" y="3733165"/>
            <a:ext cx="2526665" cy="368300"/>
          </a:xfrm>
          <a:prstGeom prst="rect">
            <a:avLst/>
          </a:prstGeom>
          <a:noFill/>
        </p:spPr>
        <p:txBody>
          <a:bodyPr wrap="square" rtlCol="0">
            <a:spAutoFit/>
          </a:bodyPr>
          <a:lstStyle/>
          <a:p>
            <a:r>
              <a:rPr lang="en-US">
                <a:solidFill>
                  <a:srgbClr val="FF0000"/>
                </a:solidFill>
              </a:rPr>
              <a:t>Result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357166"/>
            <a:ext cx="8077200" cy="5967433"/>
          </a:xfrm>
        </p:spPr>
        <p:txBody>
          <a:bodyPr>
            <a:normAutofit/>
          </a:bodyPr>
          <a:lstStyle/>
          <a:p>
            <a:pPr algn="ctr"/>
            <a:r>
              <a:rPr lang="en-US" sz="2400" b="1" dirty="0">
                <a:solidFill>
                  <a:srgbClr val="C00000"/>
                </a:solidFill>
                <a:latin typeface="Times New Roman" panose="02020603050405020304" pitchFamily="18" charset="0"/>
                <a:cs typeface="Times New Roman" panose="02020603050405020304" pitchFamily="18" charset="0"/>
              </a:rPr>
              <a:t>DATA WORKFLOW</a:t>
            </a:r>
          </a:p>
        </p:txBody>
      </p:sp>
      <p:pic>
        <p:nvPicPr>
          <p:cNvPr id="2" name="Picture 1"/>
          <p:cNvPicPr>
            <a:picLocks noChangeAspect="1"/>
          </p:cNvPicPr>
          <p:nvPr/>
        </p:nvPicPr>
        <p:blipFill>
          <a:blip r:embed="rId2"/>
          <a:stretch>
            <a:fillRect/>
          </a:stretch>
        </p:blipFill>
        <p:spPr>
          <a:xfrm>
            <a:off x="971550" y="908685"/>
            <a:ext cx="7245350" cy="53213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357166"/>
            <a:ext cx="8077200" cy="5967433"/>
          </a:xfrm>
        </p:spPr>
        <p:txBody>
          <a:bodyPr>
            <a:normAutofit/>
          </a:bodyPr>
          <a:lstStyle/>
          <a:p>
            <a:pPr algn="ctr"/>
            <a:r>
              <a:rPr lang="en-US" sz="2400" b="1" dirty="0">
                <a:solidFill>
                  <a:srgbClr val="C00000"/>
                </a:solidFill>
                <a:latin typeface="Times New Roman" panose="02020603050405020304" pitchFamily="18" charset="0"/>
                <a:cs typeface="Times New Roman" panose="02020603050405020304" pitchFamily="18" charset="0"/>
              </a:rPr>
              <a:t>5.Result</a:t>
            </a:r>
          </a:p>
        </p:txBody>
      </p:sp>
      <p:sp>
        <p:nvSpPr>
          <p:cNvPr id="7171" name="Rectangle 3"/>
          <p:cNvSpPr>
            <a:spLocks noChangeArrowheads="1"/>
          </p:cNvSpPr>
          <p:nvPr/>
        </p:nvSpPr>
        <p:spPr bwMode="auto">
          <a:xfrm>
            <a:off x="395893" y="923670"/>
            <a:ext cx="3214710" cy="70675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rgbClr val="FF0000"/>
                </a:solidFill>
                <a:effectLst/>
                <a:latin typeface="Times New Roman" panose="02020603050405020304" pitchFamily="18" charset="0"/>
                <a:ea typeface="Calibri" panose="020F0502020204030204" charset="0"/>
                <a:cs typeface="Times New Roman" panose="02020603050405020304" pitchFamily="18" charset="0"/>
              </a:rPr>
              <a:t>Before preprocessing</a:t>
            </a:r>
            <a:endParaRPr kumimoji="0" 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172" name="Rectangle 4"/>
          <p:cNvSpPr>
            <a:spLocks noChangeArrowheads="1"/>
          </p:cNvSpPr>
          <p:nvPr/>
        </p:nvSpPr>
        <p:spPr bwMode="auto">
          <a:xfrm>
            <a:off x="4434205" y="832168"/>
            <a:ext cx="3853180" cy="70675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a:ln>
                  <a:noFill/>
                </a:ln>
                <a:solidFill>
                  <a:srgbClr val="FF0000"/>
                </a:solidFill>
                <a:effectLst/>
                <a:latin typeface="Times New Roman" panose="02020603050405020304" pitchFamily="18" charset="0"/>
                <a:ea typeface="Calibri" panose="020F0502020204030204" charset="0"/>
                <a:cs typeface="Times New Roman" panose="02020603050405020304" pitchFamily="18" charset="0"/>
              </a:rPr>
              <a:t>After preprocessing(replacing the missing values with random values)</a:t>
            </a:r>
            <a:endParaRPr kumimoji="0" lang="en-US" sz="2000" b="0"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79070" y="1772920"/>
            <a:ext cx="4001770" cy="3284220"/>
          </a:xfrm>
          <a:prstGeom prst="rect">
            <a:avLst/>
          </a:prstGeom>
        </p:spPr>
      </p:pic>
      <p:pic>
        <p:nvPicPr>
          <p:cNvPr id="4" name="Picture 3"/>
          <p:cNvPicPr>
            <a:picLocks noChangeAspect="1"/>
          </p:cNvPicPr>
          <p:nvPr/>
        </p:nvPicPr>
        <p:blipFill>
          <a:blip r:embed="rId3"/>
          <a:stretch>
            <a:fillRect/>
          </a:stretch>
        </p:blipFill>
        <p:spPr>
          <a:xfrm>
            <a:off x="4488180" y="1772920"/>
            <a:ext cx="4295140" cy="323786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356870"/>
            <a:ext cx="3315970" cy="498475"/>
          </a:xfrm>
        </p:spPr>
        <p:txBody>
          <a:bodyPr>
            <a:normAutofit/>
          </a:bodyPr>
          <a:lstStyle/>
          <a:p>
            <a:pPr algn="ctr" fontAlgn="base"/>
            <a:r>
              <a:rPr lang="en-US" altLang="en-IN" sz="2000" dirty="0">
                <a:solidFill>
                  <a:srgbClr val="FF0000"/>
                </a:solidFill>
                <a:latin typeface="Times New Roman" panose="02020603050405020304" pitchFamily="18" charset="0"/>
                <a:cs typeface="Times New Roman" panose="02020603050405020304" pitchFamily="18" charset="0"/>
              </a:rPr>
              <a:t>Before Preprocessing</a:t>
            </a:r>
          </a:p>
        </p:txBody>
      </p:sp>
      <p:sp>
        <p:nvSpPr>
          <p:cNvPr id="2" name="Text Box 1"/>
          <p:cNvSpPr txBox="1"/>
          <p:nvPr/>
        </p:nvSpPr>
        <p:spPr>
          <a:xfrm>
            <a:off x="4716145" y="356870"/>
            <a:ext cx="3728085" cy="1014730"/>
          </a:xfrm>
          <a:prstGeom prst="rect">
            <a:avLst/>
          </a:prstGeom>
          <a:noFill/>
        </p:spPr>
        <p:txBody>
          <a:bodyPr wrap="square" rtlCol="0">
            <a:spAutoFit/>
          </a:bodyPr>
          <a:lstStyle/>
          <a:p>
            <a:r>
              <a:rPr lang="en-US" sz="2000">
                <a:solidFill>
                  <a:srgbClr val="FF0000"/>
                </a:solidFill>
                <a:latin typeface="Times New Roman" panose="02020603050405020304" pitchFamily="18" charset="0"/>
                <a:cs typeface="Times New Roman" panose="02020603050405020304" pitchFamily="18" charset="0"/>
              </a:rPr>
              <a:t>After preprocessing</a:t>
            </a:r>
          </a:p>
          <a:p>
            <a:r>
              <a:rPr lang="en-US" sz="2000">
                <a:solidFill>
                  <a:srgbClr val="FF0000"/>
                </a:solidFill>
                <a:latin typeface="Times New Roman" panose="02020603050405020304" pitchFamily="18" charset="0"/>
                <a:cs typeface="Times New Roman" panose="02020603050405020304" pitchFamily="18" charset="0"/>
              </a:rPr>
              <a:t> (replacing the missing values by Average/Most frequent value)</a:t>
            </a:r>
          </a:p>
        </p:txBody>
      </p:sp>
      <p:pic>
        <p:nvPicPr>
          <p:cNvPr id="3" name="Picture 2"/>
          <p:cNvPicPr>
            <a:picLocks noChangeAspect="1"/>
          </p:cNvPicPr>
          <p:nvPr/>
        </p:nvPicPr>
        <p:blipFill>
          <a:blip r:embed="rId2"/>
          <a:stretch>
            <a:fillRect/>
          </a:stretch>
        </p:blipFill>
        <p:spPr>
          <a:xfrm>
            <a:off x="179070" y="1772920"/>
            <a:ext cx="4001770" cy="3284220"/>
          </a:xfrm>
          <a:prstGeom prst="rect">
            <a:avLst/>
          </a:prstGeom>
        </p:spPr>
      </p:pic>
      <p:pic>
        <p:nvPicPr>
          <p:cNvPr id="4" name="Picture 3"/>
          <p:cNvPicPr>
            <a:picLocks noChangeAspect="1"/>
          </p:cNvPicPr>
          <p:nvPr/>
        </p:nvPicPr>
        <p:blipFill>
          <a:blip r:embed="rId3"/>
          <a:stretch>
            <a:fillRect/>
          </a:stretch>
        </p:blipFill>
        <p:spPr>
          <a:xfrm>
            <a:off x="4430395" y="1916430"/>
            <a:ext cx="4278630" cy="304419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11560" y="980728"/>
            <a:ext cx="8075240" cy="5343871"/>
          </a:xfrm>
        </p:spPr>
        <p:txBody>
          <a:bodyPr>
            <a:noAutofit/>
          </a:bodyPr>
          <a:lstStyle/>
          <a:p>
            <a:pPr marL="342900" indent="-3429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In conclusion, our analysis of the Primary Tumor dataset has demonstrated that applying preprocessing techniques significantly enhances the performance of machine learning models. By addressing data issues such as missing values, noise, and irrelevant features.</a:t>
            </a:r>
          </a:p>
          <a:p>
            <a:pPr marL="342900" indent="-3429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After experimenting with several algorithms, including Decision Trees, Support Vector Machines, and k-Nearest Neighbors, it was observed that the </a:t>
            </a:r>
            <a:r>
              <a:rPr lang="en-US" sz="2000" b="1" dirty="0">
                <a:latin typeface="Times New Roman" panose="02020603050405020304" pitchFamily="18" charset="0"/>
                <a:cs typeface="Times New Roman" panose="02020603050405020304" pitchFamily="18" charset="0"/>
              </a:rPr>
              <a:t>Support Vector Machine(SVM)</a:t>
            </a:r>
            <a:r>
              <a:rPr lang="en-US" sz="2000" dirty="0">
                <a:latin typeface="Times New Roman" panose="02020603050405020304" pitchFamily="18" charset="0"/>
                <a:cs typeface="Times New Roman" panose="02020603050405020304" pitchFamily="18" charset="0"/>
              </a:rPr>
              <a:t> algorithm gives the best accuracy when the missing values are </a:t>
            </a:r>
            <a:r>
              <a:rPr lang="en-US" sz="2000" b="1" dirty="0">
                <a:latin typeface="Times New Roman" panose="02020603050405020304" pitchFamily="18" charset="0"/>
                <a:cs typeface="Times New Roman" panose="02020603050405020304" pitchFamily="18" charset="0"/>
              </a:rPr>
              <a:t>replaced with random values</a:t>
            </a:r>
            <a:r>
              <a:rPr lang="en-US" sz="2000" dirty="0">
                <a:latin typeface="Times New Roman" panose="02020603050405020304" pitchFamily="18" charset="0"/>
                <a:cs typeface="Times New Roman" panose="02020603050405020304" pitchFamily="18" charset="0"/>
              </a:rPr>
              <a:t>. This suggests that the probabilistic nature of Naive Bayes is particularly well-suited for this dataset,</a:t>
            </a:r>
          </a:p>
          <a:p>
            <a:pPr marL="342900" indent="-342900" algn="just">
              <a:buFont typeface="Wingdings" panose="05000000000000000000" charset="0"/>
              <a:buChar char="Ø"/>
            </a:pPr>
            <a:r>
              <a:rPr lang="en-US" sz="2000" dirty="0">
                <a:latin typeface="Times New Roman" panose="02020603050405020304" pitchFamily="18" charset="0"/>
                <a:cs typeface="Times New Roman" panose="02020603050405020304" pitchFamily="18" charset="0"/>
              </a:rPr>
              <a:t>The high accuracy achieved by the Naive Bayes model indicates its effectiveness in handling the categorical features present in the Primary Tumor dataset.Overall, our preprocessing efforts combined with the appropriate choice of algorithm led to the best predictive performance, </a:t>
            </a:r>
          </a:p>
        </p:txBody>
      </p:sp>
      <p:sp>
        <p:nvSpPr>
          <p:cNvPr id="4" name="Title 3"/>
          <p:cNvSpPr>
            <a:spLocks noGrp="1"/>
          </p:cNvSpPr>
          <p:nvPr>
            <p:ph type="ctrTitle"/>
          </p:nvPr>
        </p:nvSpPr>
        <p:spPr>
          <a:xfrm>
            <a:off x="685800" y="381000"/>
            <a:ext cx="7175351" cy="830110"/>
          </a:xfrm>
        </p:spPr>
        <p:txBody>
          <a:bodyPr/>
          <a:lstStyle/>
          <a:p>
            <a:pPr marL="45720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6. CONCLUSION</a:t>
            </a:r>
            <a:br>
              <a:rPr lang="en-US" sz="2800" dirty="0">
                <a:solidFill>
                  <a:prstClr val="black"/>
                </a:solidFill>
                <a:latin typeface="Times New Roman" panose="02020603050405020304" pitchFamily="18" charset="0"/>
                <a:cs typeface="Times New Roman" panose="02020603050405020304" pitchFamily="18" charset="0"/>
              </a:rPr>
            </a:br>
            <a:endParaRPr lang="en-US" sz="2800" dirty="0">
              <a:solidFill>
                <a:srgbClr val="B31166"/>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609600" y="1143000"/>
            <a:ext cx="8077200" cy="5181599"/>
          </a:xfrm>
        </p:spPr>
        <p:txBody>
          <a:bodyPr>
            <a:normAutofit fontScale="85000" lnSpcReduction="20000"/>
          </a:bodyPr>
          <a:lstStyle/>
          <a:p>
            <a:pPr algn="just"/>
            <a:r>
              <a:rPr lang="en-IN" sz="2400" dirty="0"/>
              <a:t>[1] </a:t>
            </a:r>
            <a:r>
              <a:rPr lang="en-IN" sz="2400" dirty="0" err="1"/>
              <a:t>Soni</a:t>
            </a:r>
            <a:r>
              <a:rPr lang="en-IN" sz="2400" dirty="0"/>
              <a:t> J, </a:t>
            </a:r>
            <a:r>
              <a:rPr lang="en-IN" sz="2400" dirty="0" err="1"/>
              <a:t>Ansari</a:t>
            </a:r>
            <a:r>
              <a:rPr lang="en-IN" sz="2400" dirty="0"/>
              <a:t> U, Sharma D &amp; </a:t>
            </a:r>
            <a:r>
              <a:rPr lang="en-IN" sz="2400" dirty="0" err="1"/>
              <a:t>Soni</a:t>
            </a:r>
            <a:r>
              <a:rPr lang="en-IN" sz="2400" dirty="0"/>
              <a:t> S (2011). Predictive data mining for medical diagnosis: an overview of heart disease prediction. International Journal of Computer Applications, 17(8), 43-8</a:t>
            </a:r>
          </a:p>
          <a:p>
            <a:pPr algn="just"/>
            <a:r>
              <a:rPr lang="en-IN" sz="2400" dirty="0"/>
              <a:t> [2] </a:t>
            </a:r>
            <a:r>
              <a:rPr lang="en-IN" sz="2400" dirty="0" err="1"/>
              <a:t>Dangare</a:t>
            </a:r>
            <a:r>
              <a:rPr lang="en-IN" sz="2400" dirty="0"/>
              <a:t> C S &amp; </a:t>
            </a:r>
            <a:r>
              <a:rPr lang="en-IN" sz="2400" dirty="0" err="1"/>
              <a:t>Apte</a:t>
            </a:r>
            <a:r>
              <a:rPr lang="en-IN" sz="2400" dirty="0"/>
              <a:t> S </a:t>
            </a:r>
            <a:r>
              <a:rPr lang="en-IN" sz="2400" dirty="0" err="1"/>
              <a:t>S</a:t>
            </a:r>
            <a:r>
              <a:rPr lang="en-IN" sz="2400" dirty="0"/>
              <a:t> (2012). Improved study of heart disease prediction system using data mining classification techniques. International Journal of Computer Applications, 47(10), 44-8. </a:t>
            </a:r>
          </a:p>
          <a:p>
            <a:pPr algn="just"/>
            <a:r>
              <a:rPr lang="en-IN" sz="2400" dirty="0"/>
              <a:t>[3] Ordonez C (2006). Association rule discovery with the train and test approach for heart disease prediction. IEEE Transactions on Information Technology in Biomedicine, 10(2), 334-43.</a:t>
            </a:r>
          </a:p>
          <a:p>
            <a:pPr algn="just"/>
            <a:r>
              <a:rPr lang="en-IN" sz="2400" dirty="0"/>
              <a:t> [4] </a:t>
            </a:r>
            <a:r>
              <a:rPr lang="en-IN" sz="2400" dirty="0" err="1"/>
              <a:t>Shinde</a:t>
            </a:r>
            <a:r>
              <a:rPr lang="en-IN" sz="2400" dirty="0"/>
              <a:t> R, </a:t>
            </a:r>
            <a:r>
              <a:rPr lang="en-IN" sz="2400" dirty="0" err="1"/>
              <a:t>Arjun</a:t>
            </a:r>
            <a:r>
              <a:rPr lang="en-IN" sz="2400" dirty="0"/>
              <a:t> S, </a:t>
            </a:r>
            <a:r>
              <a:rPr lang="en-IN" sz="2400" dirty="0" err="1"/>
              <a:t>Patil</a:t>
            </a:r>
            <a:r>
              <a:rPr lang="en-IN" sz="2400" dirty="0"/>
              <a:t> P &amp; </a:t>
            </a:r>
            <a:r>
              <a:rPr lang="en-IN" sz="2400" dirty="0" err="1"/>
              <a:t>Waghmare</a:t>
            </a:r>
            <a:r>
              <a:rPr lang="en-IN" sz="2400" dirty="0"/>
              <a:t> J (2015). An intelligent heart disease prediction system using k-means clustering and Naïve Bayes algorithm. International Journal of Computer Science and Information Technologies, 6(1), 637-9.</a:t>
            </a:r>
          </a:p>
          <a:p>
            <a:pPr algn="just"/>
            <a:r>
              <a:rPr lang="en-IN" sz="2400" dirty="0"/>
              <a:t> [5] </a:t>
            </a:r>
            <a:r>
              <a:rPr lang="en-IN" sz="2400" dirty="0" err="1"/>
              <a:t>Bashir</a:t>
            </a:r>
            <a:r>
              <a:rPr lang="en-IN" sz="2400" dirty="0"/>
              <a:t> S, </a:t>
            </a:r>
            <a:r>
              <a:rPr lang="en-IN" sz="2400" dirty="0" err="1"/>
              <a:t>Qamar</a:t>
            </a:r>
            <a:r>
              <a:rPr lang="en-IN" sz="2400" dirty="0"/>
              <a:t> U &amp; </a:t>
            </a:r>
            <a:r>
              <a:rPr lang="en-IN" sz="2400" dirty="0" err="1"/>
              <a:t>Javed</a:t>
            </a:r>
            <a:r>
              <a:rPr lang="en-IN" sz="2400" dirty="0"/>
              <a:t> M Y (2014, November). An ensemble-based decision support framework for intelligent heart disease diagnosis. In International Conference on Information Society (</a:t>
            </a:r>
            <a:r>
              <a:rPr lang="en-IN" sz="2400" dirty="0" err="1"/>
              <a:t>i</a:t>
            </a:r>
            <a:r>
              <a:rPr lang="en-IN" sz="2400" dirty="0"/>
              <a:t>-Society 2014) (pp. 259-64). IEEE.</a:t>
            </a:r>
          </a:p>
          <a:p>
            <a:pPr algn="just">
              <a:buFont typeface="Arial" panose="020B0604020202020204" pitchFamily="34" charset="0"/>
              <a:buChar char="•"/>
            </a:pPr>
            <a:endParaRPr lang="en-US" sz="2400" dirty="0">
              <a:latin typeface="Times New Roman" panose="02020603050405020304" pitchFamily="18" charset="0"/>
              <a:cs typeface="Times New Roman" panose="02020603050405020304" pitchFamily="18" charset="0"/>
            </a:endParaRPr>
          </a:p>
        </p:txBody>
      </p:sp>
      <p:sp>
        <p:nvSpPr>
          <p:cNvPr id="4" name="Title 3"/>
          <p:cNvSpPr>
            <a:spLocks noGrp="1"/>
          </p:cNvSpPr>
          <p:nvPr>
            <p:ph type="ctrTitle"/>
          </p:nvPr>
        </p:nvSpPr>
        <p:spPr>
          <a:xfrm>
            <a:off x="685800" y="381000"/>
            <a:ext cx="7175351" cy="830110"/>
          </a:xfrm>
        </p:spPr>
        <p:txBody>
          <a:bodyPr/>
          <a:lstStyle/>
          <a:p>
            <a:pPr marL="457200" algn="ctr" defTabSz="457200">
              <a:spcBef>
                <a:spcPts val="0"/>
              </a:spcBef>
              <a:buNone/>
            </a:pPr>
            <a:r>
              <a:rPr lang="en-US" sz="2800" dirty="0">
                <a:solidFill>
                  <a:srgbClr val="B31166"/>
                </a:solidFill>
                <a:latin typeface="Times New Roman" panose="02020603050405020304" pitchFamily="18" charset="0"/>
                <a:cs typeface="Times New Roman" panose="02020603050405020304" pitchFamily="18" charset="0"/>
              </a:rPr>
              <a:t> </a:t>
            </a:r>
            <a:r>
              <a:rPr lang="en-IN" sz="2800" dirty="0">
                <a:solidFill>
                  <a:srgbClr val="FF0000"/>
                </a:solidFill>
              </a:rPr>
              <a:t>References</a:t>
            </a:r>
            <a:br>
              <a:rPr lang="en-US" sz="2800" dirty="0">
                <a:solidFill>
                  <a:srgbClr val="FF0000"/>
                </a:solidFill>
                <a:latin typeface="Times New Roman" panose="02020603050405020304" pitchFamily="18" charset="0"/>
                <a:cs typeface="Times New Roman" panose="02020603050405020304" pitchFamily="18" charset="0"/>
              </a:rPr>
            </a:br>
            <a:endParaRPr lang="en-US" sz="28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38200" y="1295400"/>
            <a:ext cx="7924800" cy="4539719"/>
          </a:xfrm>
        </p:spPr>
        <p:txBody>
          <a:bodyPr>
            <a:normAutofit/>
          </a:bodyPr>
          <a:lstStyle/>
          <a:p>
            <a:endParaRPr lang="en-US" sz="4800" b="1" dirty="0">
              <a:latin typeface="Times New Roman" panose="02020603050405020304" pitchFamily="18" charset="0"/>
              <a:cs typeface="Times New Roman" panose="02020603050405020304" pitchFamily="18" charset="0"/>
            </a:endParaRPr>
          </a:p>
          <a:p>
            <a:pPr algn="ctr"/>
            <a:r>
              <a:rPr lang="en-US" sz="4800" b="1" dirty="0">
                <a:latin typeface="Times New Roman" panose="02020603050405020304" pitchFamily="18" charset="0"/>
                <a:cs typeface="Times New Roman" panose="02020603050405020304" pitchFamily="18" charset="0"/>
              </a:rPr>
              <a:t>THANK YOU </a:t>
            </a:r>
            <a:r>
              <a:rPr lang="en-US" sz="4800" b="1" dirty="0">
                <a:solidFill>
                  <a:srgbClr val="FF0000"/>
                </a:solidFill>
                <a:latin typeface="Times New Roman" panose="02020603050405020304" pitchFamily="18" charset="0"/>
                <a:cs typeface="Times New Roman" panose="02020603050405020304" pitchFamily="18" charset="0"/>
                <a:sym typeface="Wingdings" panose="05000000000000000000" pitchFamily="2" charset="2"/>
              </a:rPr>
              <a:t></a:t>
            </a:r>
            <a:endParaRPr lang="en-US" sz="4800" b="1"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Slipstream">
  <a:themeElements>
    <a:clrScheme name="Slipstream">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Slipstream">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ipstream">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1387</Words>
  <Application>Microsoft Office PowerPoint</Application>
  <PresentationFormat>On-screen Show (4:3)</PresentationFormat>
  <Paragraphs>121</Paragraphs>
  <Slides>30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vt:lpstr>
      <vt:lpstr>Century Gothic</vt:lpstr>
      <vt:lpstr>Georgia</vt:lpstr>
      <vt:lpstr>Times New Roman</vt:lpstr>
      <vt:lpstr>Trebuchet MS</vt:lpstr>
      <vt:lpstr>Wingdings</vt:lpstr>
      <vt:lpstr>Slipstream</vt:lpstr>
      <vt:lpstr>PRIMARY TUMOR CATALOG: A CLASSIFICATION-DRIVEN DATASET FOR TUMOR CHARACTERIZATION</vt:lpstr>
      <vt:lpstr>INDEX</vt:lpstr>
      <vt:lpstr>PowerPoint Presentation</vt:lpstr>
      <vt:lpstr>2. INTRODUCTION</vt:lpstr>
      <vt:lpstr>Problem Definition</vt:lpstr>
      <vt:lpstr>3.Methodology</vt:lpstr>
      <vt:lpstr>Block-Diagram</vt:lpstr>
      <vt:lpstr>Decision-Tree-Algorithm</vt:lpstr>
      <vt:lpstr>PowerPoint Presentation</vt:lpstr>
      <vt:lpstr>PowerPoint Presentation</vt:lpstr>
      <vt:lpstr>Naïve Bayes Algorithm</vt:lpstr>
      <vt:lpstr>Data Set Description</vt:lpstr>
      <vt:lpstr>4.Orange tool</vt:lpstr>
      <vt:lpstr>PowerPoint Presentation</vt:lpstr>
      <vt:lpstr>PowerPoint Presentation</vt:lpstr>
      <vt:lpstr>PRE PROCESSING TECHNIQUES</vt:lpstr>
      <vt:lpstr>DATA CLEANING</vt:lpstr>
      <vt:lpstr>PowerPoint Presentation</vt:lpstr>
      <vt:lpstr> Pre Processing</vt:lpstr>
      <vt:lpstr>Scatter Plot </vt:lpstr>
      <vt:lpstr>Applying Supervised Machine Learning Algorithms</vt:lpstr>
      <vt:lpstr>Rank</vt:lpstr>
      <vt:lpstr>PowerPoint Presentation</vt:lpstr>
      <vt:lpstr>Predicting the class</vt:lpstr>
      <vt:lpstr>PowerPoint Presentation</vt:lpstr>
      <vt:lpstr>PowerPoint Presentation</vt:lpstr>
      <vt:lpstr>PowerPoint Presentation</vt:lpstr>
      <vt:lpstr>6. CONCLUSION </vt:lpstr>
      <vt:lpstr> 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Hema</dc:creator>
  <cp:lastModifiedBy>bathula Navya sri</cp:lastModifiedBy>
  <cp:revision>56</cp:revision>
  <dcterms:created xsi:type="dcterms:W3CDTF">2021-05-14T03:30:00Z</dcterms:created>
  <dcterms:modified xsi:type="dcterms:W3CDTF">2025-11-18T06:57:31Z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746EAC4E451E433E8D56B9034CDF1272_13</vt:lpwstr>
  </property>
  <property fmtid="{D5CDD505-2E9C-101B-9397-08002B2CF9AE}" pid="3" name="KSOProductBuildVer">
    <vt:lpwstr>1033-12.2.0.16909</vt:lpwstr>
  </property>
</Properties>
</file>